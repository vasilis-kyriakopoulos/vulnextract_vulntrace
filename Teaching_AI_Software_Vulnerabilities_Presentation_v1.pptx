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9" r:id="rId8"/>
    <p:sldId id="270" r:id="rId9"/>
    <p:sldId id="268" r:id="rId10"/>
    <p:sldId id="263" r:id="rId11"/>
    <p:sldId id="264" r:id="rId12"/>
    <p:sldId id="273" r:id="rId13"/>
    <p:sldId id="274" r:id="rId14"/>
    <p:sldId id="272" r:id="rId15"/>
    <p:sldId id="271" r:id="rId16"/>
    <p:sldId id="266" r:id="rId17"/>
    <p:sldId id="267" r:id="rId18"/>
    <p:sldId id="275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1BD26-1A35-9368-5196-EC489240CA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C37FA-D8B9-0099-C9A2-3CA8E2A19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74215-15ED-9E09-04A8-20AFD6BB6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CFAAC-9247-1435-62AB-D1C8DF8E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11FEE-46E9-8DBB-0741-43E0C2FB2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255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14D97-E2F2-4643-4475-87CFA7936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8B2C8-1AC3-138E-9AED-30C8C8189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2ABEA-698D-35B8-BE24-442513C3D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CF528-EB41-80BA-679F-5AE88DBD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18ED4-FA0F-FFD6-29D5-1F4413DC0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549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671B6-504B-8CD9-5537-5F029F59E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4480A-57BE-1BC3-BD72-D27F5FAC6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8089B-6B86-FF82-90A1-91A133F35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D86B1-930F-A184-EFD3-7B0EDB6D8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EE108-16DD-98D6-1110-7B1A10C67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5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0ABB3-0EFF-B7F8-7F14-5A3038C56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C0C7E-308D-1C32-55B1-5D6BBCA44E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EAF2FB-2916-9E2D-1C25-660AA2AEC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C1597-15AC-AFC4-AB33-87083D25F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D532-55FF-6212-FB97-D12A8A923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9C181-39E0-1697-5137-A27598406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65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B538E-E4DC-B24E-3782-E66C001A2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06AE3-C44E-F227-5C91-2136253E6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1686E-8EEE-24D7-D147-0CC414989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6F2378-D205-D63E-F3D8-D14D3F89E3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EDCCA3-ECD6-7EEC-9009-B8986DED2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F9C242-DCAD-F589-4D85-5312790BA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EB304A-163F-2D4B-B221-7D3A03F3F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4C9E91-4653-AB69-24DE-40EC531CB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49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72910-2D71-967E-2148-D8476C158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D365A-8955-A595-E59E-9DACC7E09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755DF-503D-FC09-1B8A-7F6560D27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2721F6-B52C-9545-17CF-6671580B5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789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20CD6-540B-7393-9BE8-5865CB577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CCCFB4-161A-D1ED-F246-DEB1130A1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A5780-584E-2F92-5400-6EB5531AE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56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6972E-E796-5FBD-76DC-910D32F15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316FC-7845-2FCA-4125-7D38A31FB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0514F7-A14A-8FEA-0D28-F1340FAB4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94816-2F1F-95EA-CD19-C75D3B007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04C4A-F59C-37FB-62AE-E2E1FCD3C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18D63-5A51-95C6-DA50-F15BF7835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5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B0F39-506A-E791-3436-CB8F54905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B653D7-AC99-3975-739B-C9A40E848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BD1640-C406-7F2F-9001-CE5D6938E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7BC4B4-043F-0E51-B2F6-005B5360A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0951B-2628-B267-5EB6-186B7077E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FC02B-D0CF-38E6-397B-E54178F2E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6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5CF2-8C19-3A13-085B-2AD106606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20D14-103D-4276-671D-428EF7AD7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CB73E-EF7A-649C-BC9B-05E26E8DF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35B3C-BFF8-F465-815C-D2A5FB14A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39162-BBCC-1D58-691F-EF78ED569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022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A7DF25-ECE7-018F-6AB5-F3F3736986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4FFB4-5D1B-092F-2EB0-AFEA35566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1591A-FAD3-76D1-3389-0A6DB411E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69393-5647-4A2E-739A-56ABD892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B4FC2-974E-16A7-BA39-5C86CB7F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2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E8B4F7-280E-19A7-CA22-AA8779F6E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FE87C-44B3-07F2-9CE7-EF18ACA63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0C98C-18CA-012A-7840-17C1903A4B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43F0B-B378-2E60-062A-4364A047D5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9CB48-3C72-9255-21B5-303CB90AC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64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45/3729360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pPr algn="ctr"/>
            <a:r>
              <a:rPr lang="el-G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Διδάσκοντας στην Τεχνητή Νοημοσύνη το «Γιατί» και το «Πώς» των Διορθώσεων Ευπαθειών Λογισμικού(</a:t>
            </a:r>
            <a:r>
              <a:rPr lang="el-G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Bug</a:t>
            </a:r>
            <a:r>
              <a:rPr lang="el-G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l-G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Fix</a:t>
            </a:r>
            <a:br>
              <a:rPr lang="el-G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l-G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r>
              <a:rPr lang="el-G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Μάθημα: 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Θέματα Πληροφοριακών συστημάτων- Π.Μ.Σ. «Επιστήμης Υπολογιστών»</a:t>
            </a:r>
          </a:p>
          <a:p>
            <a:r>
              <a:rPr lang="el-G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Έρευνα: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Gao, A., Zhang, Z., Wang, S., Huang, L., Wei, S., &amp; Ng, V. (2025). 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Teaching AI the “Why” and “How” of Software Vulnerability Fixes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Proceedings of the ACM on Software Engineering, 2(FSE), Article FSE090.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https://doi.org/10.1145/3729360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87F570E4-27B3-7E1B-DFC6-F50DC1DC78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0936953E-EEB6-5EEF-0A86-518B522AEC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682" y="562148"/>
            <a:ext cx="7372350" cy="1325880"/>
          </a:xfrm>
        </p:spPr>
        <p:txBody>
          <a:bodyPr anchor="b">
            <a:normAutofit/>
          </a:bodyPr>
          <a:lstStyle/>
          <a:p>
            <a:pPr algn="ctr"/>
            <a:r>
              <a:rPr lang="el-GR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Το Πρόβλημα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057400"/>
            <a:ext cx="7702296" cy="3997645"/>
          </a:xfrm>
        </p:spPr>
        <p:txBody>
          <a:bodyPr anchor="ctr">
            <a:normAutofit/>
          </a:bodyPr>
          <a:lstStyle/>
          <a:p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Το λογισμικό συχνά περιέχει ευπάθειες που επιτρέπουν επιθέσεις ή αποτυχίες.</a:t>
            </a:r>
          </a:p>
          <a:p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Για να προστατευτούμε, πρέπει να κατανοούμε γιατί εμφανίζονται και πώς διορθώνονται.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Ο χρόνος κατανόησης και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εντοπισμού των προβλημάτων είναι μεγάλος</a:t>
            </a:r>
          </a:p>
          <a:p>
            <a:pPr marL="0" indent="0">
              <a:buNone/>
            </a:pPr>
            <a:endParaRPr lang="el-G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338328"/>
            <a:ext cx="8121396" cy="1773936"/>
          </a:xfrm>
        </p:spPr>
        <p:txBody>
          <a:bodyPr>
            <a:normAutofit/>
          </a:bodyPr>
          <a:lstStyle/>
          <a:p>
            <a:pPr algn="ctr"/>
            <a:r>
              <a:rPr lang="el-GR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Η Δυσκολία</a:t>
            </a:r>
            <a:r>
              <a:rPr lang="en-US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l-GR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εντοπισμού και κατανόησης των  προβλημάτων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323" y="1461744"/>
            <a:ext cx="4632070" cy="4954296"/>
          </a:xfrm>
        </p:spPr>
        <p:txBody>
          <a:bodyPr anchor="ctr">
            <a:normAutofit/>
          </a:bodyPr>
          <a:lstStyle/>
          <a:p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Οι πληροφορίες για μια ευπάθεια είναι σκορπισμένες:</a:t>
            </a:r>
          </a:p>
          <a:p>
            <a:pPr marL="0" indent="0">
              <a:buNone/>
            </a:pP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- Κείμενα σε φυσική γλώσσα(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CVEs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l-GR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bug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l-GR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reports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l-GR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commit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l-GR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messages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- Κώδικας (γραμμές αλλαγών)</a:t>
            </a:r>
          </a:p>
          <a:p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Ο προγραμματιστής πρέπει να είναι σε θέση να κατανοήσει πως προκλήθηκε μια ευπάθεια , τι πρόβλημα δημιουργήθηκε και πως λύθηκε. Επίσης πρέπει να είναι σε θέση να εντοπίσει τα παραπάνω στον κώδικα.</a:t>
            </a:r>
          </a:p>
          <a:p>
            <a:endParaRPr lang="el-GR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Picture 8" descr="A diagram of a coder&#10;&#10;AI-generated content may be incorrect.">
            <a:extLst>
              <a:ext uri="{FF2B5EF4-FFF2-40B4-BE49-F238E27FC236}">
                <a16:creationId xmlns:a16="http://schemas.microsoft.com/office/drawing/2014/main" id="{AE2AD6CE-D710-4553-C793-6ED1C32360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84" r="8049" b="-1"/>
          <a:stretch>
            <a:fillRect/>
          </a:stretch>
        </p:blipFill>
        <p:spPr>
          <a:xfrm>
            <a:off x="5118564" y="1627878"/>
            <a:ext cx="3305893" cy="26954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6D1831-DF3E-0917-FD25-FC6799D68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564" y="4450377"/>
            <a:ext cx="3874770" cy="16050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682" y="1261423"/>
            <a:ext cx="7372350" cy="1325880"/>
          </a:xfrm>
        </p:spPr>
        <p:txBody>
          <a:bodyPr anchor="b">
            <a:normAutofit/>
          </a:bodyPr>
          <a:lstStyle/>
          <a:p>
            <a:pPr algn="ctr"/>
            <a:r>
              <a:rPr lang="el-GR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Παράδειγμα </a:t>
            </a:r>
            <a:r>
              <a:rPr lang="en-US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CVE</a:t>
            </a:r>
            <a:r>
              <a:rPr lang="el-GR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+ </a:t>
            </a:r>
            <a:r>
              <a:rPr lang="en-US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827419"/>
            <a:ext cx="3845172" cy="3227626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Blue -&gt; VT (Vulnerability Trigger)</a:t>
            </a:r>
          </a:p>
          <a:p>
            <a:r>
              <a:rPr lang="en-US" sz="1800" dirty="0">
                <a:solidFill>
                  <a:srgbClr val="FF0000"/>
                </a:solidFill>
              </a:rPr>
              <a:t>Red -&gt; AF (After-Fix / Fix Action)</a:t>
            </a:r>
          </a:p>
          <a:p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Yellow -&gt; CP (Crash Phenomenon)</a:t>
            </a:r>
          </a:p>
          <a:p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160D5F-CB7E-9D9F-9731-A23B87C22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912" y="3276702"/>
            <a:ext cx="4748202" cy="2514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069" y="282701"/>
            <a:ext cx="7375161" cy="1325563"/>
          </a:xfrm>
        </p:spPr>
        <p:txBody>
          <a:bodyPr anchor="b">
            <a:normAutofit/>
          </a:bodyPr>
          <a:lstStyle/>
          <a:p>
            <a:pPr algn="ctr"/>
            <a:r>
              <a:rPr lang="el-GR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Ο Στόχος της έρευνας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519" y="2510865"/>
            <a:ext cx="7375161" cy="3187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Στόχος της έρευνας είναι να χρησιμοποιηθεί η τεχνητή νοημοσύνη για να επιταχύνει την διαδικασία κατανόησης και εντοπισμού των προβλημάτων.</a:t>
            </a:r>
            <a:b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b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Θα χρησιμοποιήσουμε την ακόλουθη λογική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endParaRPr lang="el-G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1)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έναν αλγόριθμο μηχανικής μάθησης  να καταλαβαίνει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στο κείμενο τα παρακάτω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VulnExtract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marL="0" indent="0">
              <a:buNone/>
            </a:pP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Την ενέργεια που εφαρμόστηκε για να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διορθωθεί το πρόβλημα(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AF)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  </a:t>
            </a:r>
          </a:p>
          <a:p>
            <a:pPr marL="0" indent="0">
              <a:buNone/>
            </a:pP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Το σημείο/συνθήκη που προκαλεί την ευπάθεια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(VT)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αποτέλεσμα που προκαλεί το σφάλμα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(CP)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2) Δημιουργία ενός μοντέλου ιχνηλασιμότητας (</a:t>
            </a:r>
            <a:r>
              <a:rPr lang="el-G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traceability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l-G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που συνδέει προτάσεις κειμένου με γραμμές κώδικα.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532" y="289403"/>
            <a:ext cx="7372350" cy="1325880"/>
          </a:xfrm>
        </p:spPr>
        <p:txBody>
          <a:bodyPr anchor="b">
            <a:normAutofit/>
          </a:bodyPr>
          <a:lstStyle/>
          <a:p>
            <a:pPr algn="ctr"/>
            <a:r>
              <a:rPr lang="el-GR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Γραφική αναπαράσταση μοντέλου.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4015" y="1158796"/>
            <a:ext cx="4689389" cy="2347239"/>
          </a:xfrm>
        </p:spPr>
        <p:txBody>
          <a:bodyPr anchor="ctr">
            <a:norm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VulnE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tract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εντοπισμός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VT, CP, AF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στο  κείμενο.</a:t>
            </a:r>
          </a:p>
          <a:p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VulnTrace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αντιστοίχιση με γραμμές κώδικα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86F883-F908-A725-620C-B5E531B1D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07" y="3125905"/>
            <a:ext cx="8485955" cy="24184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7E7C5-2BC1-18A9-176B-2423CBE73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5338D-0EEF-26AA-2FEF-396DB3FA0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532" y="289403"/>
            <a:ext cx="7372350" cy="1325880"/>
          </a:xfrm>
        </p:spPr>
        <p:txBody>
          <a:bodyPr anchor="b">
            <a:normAutofit/>
          </a:bodyPr>
          <a:lstStyle/>
          <a:p>
            <a:pPr algn="ctr"/>
            <a:r>
              <a:rPr lang="el-GR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Δεδομένα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5F705-4F3A-F3AA-D4A4-7B9E3188F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378" y="1848370"/>
            <a:ext cx="7372350" cy="3561830"/>
          </a:xfrm>
        </p:spPr>
        <p:txBody>
          <a:bodyPr anchor="ctr">
            <a:norm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341 CVEs, 2439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προτάσεις, 6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open source project</a:t>
            </a:r>
            <a:endParaRPr lang="el-G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Για το πρώτο βήμα εμπλουτίστηκαν τα κείμενα με έξτρα χαρακτηριστικά( 37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patterns).</a:t>
            </a:r>
            <a:endParaRPr lang="el-G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l-G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Τα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patterns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είναι </a:t>
            </a:r>
            <a:r>
              <a:rPr lang="el-G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κανόνες/μοτίβα γλώσσας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που εμφανίζονται συχνά σε περιγραφές ευπαθειών.</a:t>
            </a:r>
            <a:b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Παραδείγματα μοτίβων:</a:t>
            </a:r>
            <a:b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“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patch fixes…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→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δείχνει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AF (Fix Action)</a:t>
            </a:r>
            <a:b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“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Caused by…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→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δείχνει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VT (Vulnerability Trigger)</a:t>
            </a:r>
            <a:b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“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May crash when…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→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δείχνει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CP (Crash Phenomenon)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Έγινε εκπαίδευση του αλγορίθμου με και χωρίς τα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patterns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για να δούμε αν βοηθούν το μοντέλο.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333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78913-3DDD-196E-3FDD-84788E887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1928A-1816-7C5E-8CB2-D1B7826C2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171" y="-15888"/>
            <a:ext cx="737235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VulnExtract</a:t>
            </a:r>
            <a:r>
              <a:rPr lang="el-GR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4903F-098E-86EE-EAF9-2F06CC141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892" y="1743534"/>
            <a:ext cx="7694179" cy="4710457"/>
          </a:xfrm>
        </p:spPr>
        <p:txBody>
          <a:bodyPr anchor="ctr">
            <a:normAutofit/>
          </a:bodyPr>
          <a:lstStyle/>
          <a:p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Στόχος του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VulnExtract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είναι να αναγνωρίζει αυτόματα μέσα σε κείμενα (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commit messages, CVEs)</a:t>
            </a:r>
            <a:b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ποιες προτάσεις περιγράφουν:</a:t>
            </a:r>
          </a:p>
          <a:p>
            <a:pPr lvl="1"/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το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Vulnerability Trigger (VT),</a:t>
            </a:r>
          </a:p>
          <a:p>
            <a:pPr lvl="1"/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το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Crash Phenomenon (CP),</a:t>
            </a:r>
          </a:p>
          <a:p>
            <a:pPr lvl="1"/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και το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After-Fix (AF).</a:t>
            </a:r>
          </a:p>
          <a:p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Το πρόβλημα είναι </a:t>
            </a:r>
            <a:r>
              <a:rPr lang="el-G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δυαδική κατηγοριοποίηση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για κάθε τύπο πρότασης.</a:t>
            </a:r>
            <a:b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Εκπαιδεύονται τρία ξεχωριστά μοντέλα, ένα για κάθε κατηγορία.</a:t>
            </a:r>
          </a:p>
          <a:p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Χρησιμοποιήθηκε ο αλγόριθμος</a:t>
            </a:r>
            <a:r>
              <a:rPr lang="el-G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SVM 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l-GR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Support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l-GR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Vector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l-GR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Machine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),</a:t>
            </a:r>
            <a:b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τόσο με χαρακτηριστικά μόνο από το κείμενο,</a:t>
            </a:r>
            <a:b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όσο και με πρόσθετα γλωσσικά μοτίβα (</a:t>
            </a:r>
            <a:r>
              <a:rPr lang="el-GR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patterns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).</a:t>
            </a:r>
          </a:p>
          <a:p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Επιπλέον, δοκιμάστηκαν </a:t>
            </a:r>
            <a:r>
              <a:rPr lang="el-G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μοντέλα φυσικής γλώσσας 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όπως BERT, </a:t>
            </a:r>
            <a:r>
              <a:rPr lang="el-GR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RoBERTa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και ELECTRA</a:t>
            </a:r>
            <a:b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για να αξιολογηθεί πώς αποδίδουν σε σχέση με τα κλασικά ML μοντέλα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	</a:t>
            </a:r>
            <a:endParaRPr lang="el-GR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lvl="1" indent="0">
              <a:buNone/>
            </a:pPr>
            <a:endParaRPr lang="el-GR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578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E708D-590F-C648-1210-85F3EA528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195263"/>
            <a:ext cx="7886700" cy="1325563"/>
          </a:xfrm>
        </p:spPr>
        <p:txBody>
          <a:bodyPr/>
          <a:lstStyle/>
          <a:p>
            <a:pPr algn="ctr"/>
            <a:r>
              <a:rPr lang="en-US" dirty="0" err="1"/>
              <a:t>VulnTrace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F1C5D-389E-0CFF-BB5E-A0C3F2D0F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79551"/>
            <a:ext cx="7886700" cy="3651250"/>
          </a:xfrm>
        </p:spPr>
        <p:txBody>
          <a:bodyPr>
            <a:normAutofit/>
          </a:bodyPr>
          <a:lstStyle/>
          <a:p>
            <a:r>
              <a:rPr lang="el-GR" sz="1800" b="1" dirty="0" err="1"/>
              <a:t>VulnTrace</a:t>
            </a:r>
            <a:r>
              <a:rPr lang="el-GR" sz="1800" b="1" dirty="0"/>
              <a:t> – Αντιστοίχιση Κειμένου με Κώδικα</a:t>
            </a:r>
            <a:endParaRPr lang="el-GR" sz="1800" dirty="0"/>
          </a:p>
          <a:p>
            <a:pPr marL="0" indent="0">
              <a:buNone/>
            </a:pPr>
            <a:r>
              <a:rPr lang="el-GR" sz="1800" dirty="0"/>
              <a:t>• Χρησιμοποιεί μοντέλα βαθιάς μάθησης όπως </a:t>
            </a:r>
            <a:r>
              <a:rPr lang="el-GR" sz="1800" dirty="0" err="1"/>
              <a:t>CodeBERT</a:t>
            </a:r>
            <a:r>
              <a:rPr lang="el-GR" sz="1800" dirty="0"/>
              <a:t> και </a:t>
            </a:r>
            <a:r>
              <a:rPr lang="el-GR" sz="1800" dirty="0" err="1"/>
              <a:t>UniXcoder</a:t>
            </a:r>
            <a:r>
              <a:rPr lang="el-GR" sz="1800" dirty="0"/>
              <a:t>.</a:t>
            </a:r>
            <a:endParaRPr lang="en-US" sz="1800" dirty="0"/>
          </a:p>
          <a:p>
            <a:pPr marL="0" indent="0">
              <a:buNone/>
            </a:pPr>
            <a:br>
              <a:rPr lang="el-GR" sz="1800" dirty="0"/>
            </a:br>
            <a:r>
              <a:rPr lang="el-GR" sz="1800" dirty="0"/>
              <a:t>• Στόχος τους είναι να καταλαβαίνουν το νόημα μιας πρότασης και να βρίσκουν το σχετικό κομμάτι κώδικα.</a:t>
            </a:r>
            <a:endParaRPr lang="en-US" sz="1800" dirty="0"/>
          </a:p>
          <a:p>
            <a:pPr marL="0" indent="0">
              <a:buNone/>
            </a:pPr>
            <a:br>
              <a:rPr lang="el-GR" sz="1800" dirty="0"/>
            </a:br>
            <a:r>
              <a:rPr lang="el-GR" sz="1800" dirty="0"/>
              <a:t>• Η εκπαίδευση έγινε σε ζεύγη (πρόταση – γραμμή κώδικα) που προέρχονται από CVE </a:t>
            </a:r>
            <a:r>
              <a:rPr lang="el-GR" sz="1800" dirty="0" err="1"/>
              <a:t>commits</a:t>
            </a:r>
            <a:r>
              <a:rPr lang="el-GR" sz="1800" dirty="0"/>
              <a:t>.</a:t>
            </a:r>
            <a:endParaRPr lang="en-US" sz="1800" dirty="0"/>
          </a:p>
          <a:p>
            <a:pPr marL="0" indent="0">
              <a:buNone/>
            </a:pPr>
            <a:br>
              <a:rPr lang="el-GR" sz="1800" dirty="0"/>
            </a:br>
            <a:r>
              <a:rPr lang="el-GR" sz="1800" dirty="0"/>
              <a:t>• Έτσι το μοντέλο μαθαίνει να “ταιριάζει” περιγραφές με τις σωστές γραμμές κώδικα.</a:t>
            </a:r>
          </a:p>
        </p:txBody>
      </p:sp>
    </p:spTree>
    <p:extLst>
      <p:ext uri="{BB962C8B-B14F-4D97-AF65-F5344CB8AC3E}">
        <p14:creationId xmlns:p14="http://schemas.microsoft.com/office/powerpoint/2010/main" val="140131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1136650"/>
            <a:ext cx="7670800" cy="877889"/>
          </a:xfrm>
        </p:spPr>
        <p:txBody>
          <a:bodyPr>
            <a:noAutofit/>
          </a:bodyPr>
          <a:lstStyle/>
          <a:p>
            <a:r>
              <a:rPr lang="en-US" sz="3600" dirty="0"/>
              <a:t>	</a:t>
            </a:r>
            <a:r>
              <a:rPr lang="el-GR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Πώς γίνεται το ταίριασμα προτάσεων με κώδικα (</a:t>
            </a:r>
            <a:r>
              <a:rPr lang="el-GR" sz="3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VulnTrace</a:t>
            </a:r>
            <a:r>
              <a:rPr lang="el-GR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br>
              <a:rPr lang="el-GR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2708275"/>
            <a:ext cx="8159750" cy="2746376"/>
          </a:xfrm>
        </p:spPr>
        <p:txBody>
          <a:bodyPr>
            <a:normAutofit fontScale="92500" lnSpcReduction="20000"/>
          </a:bodyPr>
          <a:lstStyle/>
          <a:p>
            <a:r>
              <a:rPr lang="el-GR" dirty="0"/>
              <a:t>Κάθε πρόταση μετατρέπεται σε αριθμητική αναπαράσταση (</a:t>
            </a:r>
            <a:r>
              <a:rPr lang="el-GR" dirty="0" err="1"/>
              <a:t>embedding</a:t>
            </a:r>
            <a:r>
              <a:rPr lang="el-GR" dirty="0"/>
              <a:t>) που δείχνει το νόημά της.</a:t>
            </a:r>
            <a:endParaRPr lang="en-US" dirty="0"/>
          </a:p>
          <a:p>
            <a:pPr marL="0" indent="0">
              <a:buNone/>
            </a:pPr>
            <a:br>
              <a:rPr lang="el-GR" sz="1800" dirty="0"/>
            </a:br>
            <a:r>
              <a:rPr lang="el-GR" sz="1800" dirty="0"/>
              <a:t>• Το ίδιο γίνεται και για κάθε γραμμή κώδικα.</a:t>
            </a:r>
            <a:endParaRPr lang="en-US" sz="1800" dirty="0"/>
          </a:p>
          <a:p>
            <a:pPr marL="0" indent="0">
              <a:buNone/>
            </a:pPr>
            <a:br>
              <a:rPr lang="el-GR" sz="1800" dirty="0"/>
            </a:br>
            <a:r>
              <a:rPr lang="el-GR" sz="1800" dirty="0"/>
              <a:t>• Το μοντέλο συγκρίνει αυτές τις αναπαραστάσεις και βρίσκει ποιες είναι πιο “όμοιες”.</a:t>
            </a:r>
            <a:endParaRPr lang="en-US" sz="1800" dirty="0"/>
          </a:p>
          <a:p>
            <a:pPr marL="0" indent="0">
              <a:buNone/>
            </a:pPr>
            <a:br>
              <a:rPr lang="el-GR" sz="1800" dirty="0"/>
            </a:br>
            <a:r>
              <a:rPr lang="el-GR" sz="1800" dirty="0"/>
              <a:t>• Μπορεί να αναγνωρίσει παρόμοιες φράσεις ακόμη και αν έχουν διαφορετική διατύπωση ή γλώσσα.</a:t>
            </a:r>
            <a:endParaRPr lang="en-US" sz="1800" dirty="0"/>
          </a:p>
          <a:p>
            <a:pPr marL="0" indent="0">
              <a:buNone/>
            </a:pPr>
            <a:br>
              <a:rPr lang="el-GR" sz="1800" dirty="0"/>
            </a:br>
            <a:r>
              <a:rPr lang="el-GR" sz="1800" dirty="0"/>
              <a:t>• Τελικά, επιστρέφει τις Top-K πιο σχετικές γραμμές κώδικα για κάθε πρόταση.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00" y="257176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A</a:t>
            </a:r>
            <a:r>
              <a:rPr lang="el-GR" dirty="0" err="1"/>
              <a:t>ποτελέσματα</a:t>
            </a:r>
            <a:r>
              <a:rPr lang="en-US" dirty="0"/>
              <a:t> </a:t>
            </a:r>
            <a:r>
              <a:rPr lang="en-US" dirty="0" err="1"/>
              <a:t>VulnExtract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l-GR" sz="1800" b="1" dirty="0"/>
              <a:t>SVM (</a:t>
            </a:r>
            <a:r>
              <a:rPr lang="el-GR" sz="1800" b="1" dirty="0" err="1"/>
              <a:t>Patterns</a:t>
            </a:r>
            <a:r>
              <a:rPr lang="el-GR" sz="1800" b="1" dirty="0"/>
              <a:t>)</a:t>
            </a:r>
          </a:p>
          <a:p>
            <a:pPr lvl="1"/>
            <a:r>
              <a:rPr lang="el-GR" sz="1500" b="1" dirty="0"/>
              <a:t>AF</a:t>
            </a:r>
            <a:r>
              <a:rPr lang="en-US" sz="1500" b="1" dirty="0"/>
              <a:t> </a:t>
            </a:r>
            <a:r>
              <a:rPr lang="el-GR" sz="1500" b="1" dirty="0"/>
              <a:t>:</a:t>
            </a:r>
            <a:r>
              <a:rPr lang="en-US" sz="1500" b="1" dirty="0"/>
              <a:t> </a:t>
            </a:r>
            <a:r>
              <a:rPr lang="el-GR" sz="1500" dirty="0"/>
              <a:t>92.80%</a:t>
            </a:r>
            <a:r>
              <a:rPr lang="en-US" sz="1500" dirty="0"/>
              <a:t> </a:t>
            </a:r>
            <a:endParaRPr lang="el-GR" sz="1500" dirty="0"/>
          </a:p>
          <a:p>
            <a:pPr lvl="1"/>
            <a:r>
              <a:rPr lang="el-GR" sz="1500" b="1" dirty="0"/>
              <a:t>VT</a:t>
            </a:r>
            <a:r>
              <a:rPr lang="en-US" sz="1500" b="1" dirty="0"/>
              <a:t> </a:t>
            </a:r>
            <a:r>
              <a:rPr lang="el-GR" sz="1500" b="1" dirty="0"/>
              <a:t>:</a:t>
            </a:r>
            <a:r>
              <a:rPr lang="el-GR" sz="1500" dirty="0"/>
              <a:t> 47.37%</a:t>
            </a:r>
          </a:p>
          <a:p>
            <a:pPr lvl="1"/>
            <a:r>
              <a:rPr lang="el-GR" sz="1500" b="1" dirty="0"/>
              <a:t>CP</a:t>
            </a:r>
            <a:r>
              <a:rPr lang="en-US" sz="1500" b="1" dirty="0"/>
              <a:t> </a:t>
            </a:r>
            <a:r>
              <a:rPr lang="el-GR" sz="1500" b="1" dirty="0"/>
              <a:t>:</a:t>
            </a:r>
            <a:r>
              <a:rPr lang="el-GR" sz="1500" dirty="0"/>
              <a:t> 95.60%</a:t>
            </a:r>
          </a:p>
          <a:p>
            <a:r>
              <a:rPr lang="el-GR" sz="1800" b="1" dirty="0"/>
              <a:t>SVM (</a:t>
            </a:r>
            <a:r>
              <a:rPr lang="en-US" sz="1800" b="1" dirty="0"/>
              <a:t>text</a:t>
            </a:r>
            <a:r>
              <a:rPr lang="el-GR" sz="1800" b="1" dirty="0"/>
              <a:t>)</a:t>
            </a:r>
          </a:p>
          <a:p>
            <a:pPr lvl="1"/>
            <a:r>
              <a:rPr lang="el-GR" sz="1500" b="1" dirty="0"/>
              <a:t>AF</a:t>
            </a:r>
            <a:r>
              <a:rPr lang="en-US" sz="1500" b="1" dirty="0"/>
              <a:t> </a:t>
            </a:r>
            <a:r>
              <a:rPr lang="el-GR" sz="1500" b="1" dirty="0"/>
              <a:t>:</a:t>
            </a:r>
            <a:r>
              <a:rPr lang="el-GR" sz="1500" dirty="0"/>
              <a:t> 66.73%</a:t>
            </a:r>
          </a:p>
          <a:p>
            <a:pPr lvl="1"/>
            <a:r>
              <a:rPr lang="el-GR" sz="1500" b="1" dirty="0"/>
              <a:t>VT</a:t>
            </a:r>
            <a:r>
              <a:rPr lang="en-US" sz="1500" b="1" dirty="0"/>
              <a:t> </a:t>
            </a:r>
            <a:r>
              <a:rPr lang="el-GR" sz="1500" b="1" dirty="0"/>
              <a:t>:</a:t>
            </a:r>
            <a:r>
              <a:rPr lang="el-GR" sz="1500" dirty="0"/>
              <a:t> 0%</a:t>
            </a:r>
          </a:p>
          <a:p>
            <a:pPr lvl="1"/>
            <a:r>
              <a:rPr lang="el-GR" sz="1500" b="1" dirty="0"/>
              <a:t>CP</a:t>
            </a:r>
            <a:r>
              <a:rPr lang="en-US" sz="1500" b="1" dirty="0"/>
              <a:t> </a:t>
            </a:r>
            <a:r>
              <a:rPr lang="el-GR" sz="1500" b="1" dirty="0"/>
              <a:t>:</a:t>
            </a:r>
            <a:r>
              <a:rPr lang="el-GR" sz="1500" dirty="0"/>
              <a:t> 74.65%</a:t>
            </a:r>
            <a:endParaRPr lang="en-US" sz="1500" dirty="0"/>
          </a:p>
          <a:p>
            <a:r>
              <a:rPr lang="el-GR" sz="1800" b="1" dirty="0"/>
              <a:t>SVM (</a:t>
            </a:r>
            <a:r>
              <a:rPr lang="en-US" sz="1800" b="1" dirty="0"/>
              <a:t>text + patterns</a:t>
            </a:r>
            <a:r>
              <a:rPr lang="el-GR" sz="1800" b="1" dirty="0"/>
              <a:t>)</a:t>
            </a:r>
          </a:p>
          <a:p>
            <a:pPr lvl="1"/>
            <a:r>
              <a:rPr lang="en-US" sz="1500" b="1" dirty="0"/>
              <a:t>AF :</a:t>
            </a:r>
            <a:r>
              <a:rPr lang="en-US" sz="1500" dirty="0"/>
              <a:t> 92.16 %</a:t>
            </a:r>
          </a:p>
          <a:p>
            <a:pPr lvl="1"/>
            <a:r>
              <a:rPr lang="el-GR" sz="1500" b="1" dirty="0"/>
              <a:t>VT</a:t>
            </a:r>
            <a:r>
              <a:rPr lang="en-US" sz="1500" b="1" dirty="0"/>
              <a:t> </a:t>
            </a:r>
            <a:r>
              <a:rPr lang="el-GR" sz="1500" b="1" dirty="0"/>
              <a:t>:</a:t>
            </a:r>
            <a:r>
              <a:rPr lang="el-GR" sz="1500" dirty="0"/>
              <a:t> 47.</a:t>
            </a:r>
            <a:r>
              <a:rPr lang="en-US" sz="1500" dirty="0"/>
              <a:t>08</a:t>
            </a:r>
            <a:r>
              <a:rPr lang="el-GR" sz="1500" dirty="0"/>
              <a:t>%</a:t>
            </a:r>
          </a:p>
          <a:p>
            <a:pPr lvl="1"/>
            <a:r>
              <a:rPr lang="el-GR" sz="1500" b="1" dirty="0"/>
              <a:t>CP</a:t>
            </a:r>
            <a:r>
              <a:rPr lang="en-US" sz="1500" b="1" dirty="0"/>
              <a:t> </a:t>
            </a:r>
            <a:r>
              <a:rPr lang="el-GR" sz="1500" b="1" dirty="0"/>
              <a:t>:</a:t>
            </a:r>
            <a:r>
              <a:rPr lang="el-GR" sz="1500" dirty="0"/>
              <a:t> 9</a:t>
            </a:r>
            <a:r>
              <a:rPr lang="en-US" sz="1500" dirty="0"/>
              <a:t>3</a:t>
            </a:r>
            <a:r>
              <a:rPr lang="el-GR" sz="1500" dirty="0"/>
              <a:t>.</a:t>
            </a:r>
            <a:r>
              <a:rPr lang="en-US" sz="1500" dirty="0"/>
              <a:t>42</a:t>
            </a:r>
            <a:r>
              <a:rPr lang="el-GR" sz="1500" dirty="0"/>
              <a:t>%</a:t>
            </a:r>
            <a:endParaRPr lang="en-US" sz="1500" b="1" dirty="0"/>
          </a:p>
          <a:p>
            <a:pPr marL="342900" lvl="1" indent="0">
              <a:buNone/>
            </a:pPr>
            <a:endParaRPr lang="el-GR" sz="1500" dirty="0"/>
          </a:p>
          <a:p>
            <a:r>
              <a:rPr lang="el-GR" sz="1800" dirty="0"/>
              <a:t>Η χρήση </a:t>
            </a:r>
            <a:r>
              <a:rPr lang="el-GR" sz="1800" dirty="0" err="1"/>
              <a:t>patterns</a:t>
            </a:r>
            <a:r>
              <a:rPr lang="el-GR" sz="1800" dirty="0"/>
              <a:t> έχει </a:t>
            </a:r>
            <a:r>
              <a:rPr lang="el-GR" sz="1800" b="1" dirty="0"/>
              <a:t>δραματική επίδραση</a:t>
            </a:r>
            <a:r>
              <a:rPr lang="el-GR" sz="1800" dirty="0"/>
              <a:t> ειδικά σε AF και CP.</a:t>
            </a:r>
          </a:p>
          <a:p>
            <a:r>
              <a:rPr lang="el-GR" sz="1800" dirty="0"/>
              <a:t>Στο VT βοηθάει, αλλά το πρόβλημα παραμένει δύσκολο (47% F1).</a:t>
            </a:r>
          </a:p>
          <a:p>
            <a:r>
              <a:rPr lang="el-GR" sz="1800" dirty="0"/>
              <a:t>Ο SVM γίνεται εξαιρετικά δυνατό </a:t>
            </a:r>
            <a:r>
              <a:rPr lang="el-GR" sz="1800" dirty="0" err="1"/>
              <a:t>baseline</a:t>
            </a:r>
            <a:r>
              <a:rPr lang="en-US" sz="1800" dirty="0"/>
              <a:t> model</a:t>
            </a:r>
            <a:r>
              <a:rPr lang="el-GR" sz="1800" dirty="0"/>
              <a:t> </a:t>
            </a:r>
            <a:r>
              <a:rPr lang="el-GR" sz="1800" b="1" dirty="0"/>
              <a:t>μόνο</a:t>
            </a:r>
            <a:r>
              <a:rPr lang="el-GR" sz="1800" dirty="0"/>
              <a:t> όταν του δώσεις </a:t>
            </a:r>
            <a:r>
              <a:rPr lang="el-GR" sz="1800" dirty="0" err="1"/>
              <a:t>patterns</a:t>
            </a:r>
            <a:r>
              <a:rPr lang="el-GR" sz="1800"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051DC-B31A-19FD-EFB8-E7A783642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9D21-CFF3-4058-028D-AF84E6E58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" y="257176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A</a:t>
            </a:r>
            <a:r>
              <a:rPr lang="el-GR" dirty="0" err="1"/>
              <a:t>ποτελέσματα</a:t>
            </a:r>
            <a:r>
              <a:rPr lang="en-US" dirty="0"/>
              <a:t> </a:t>
            </a:r>
            <a:r>
              <a:rPr lang="en-US" dirty="0" err="1"/>
              <a:t>VulnTrace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599EFCF-68B0-CBEE-8E6A-623D7A0200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3549" y="1756986"/>
            <a:ext cx="831572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Το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VulnTrace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α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ξιολογεί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π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όσο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κα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λά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β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ρίσκει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το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μοντέλο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τη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σωστή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γρ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αμμή κώδικα για κάθε πρόταση VT, AF ή CP.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Ο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UniXcoder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ήτ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αν ο καλύτερος σε όλες τις μετρήσεις: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VT_Code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(Top-5): 72.57%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AF_Code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(Top-5): 77.62%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CP_Code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(Top-5): 81.72%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Η απ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όδοση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είν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αι υψηλότερη για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και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επειδή περιγράφουν καθαρές ενέργειες και αποτελέσματα.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Το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είν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αι σημαντικά πιο δύσκολο, με χαμηλότερα ποσοστ</a:t>
            </a:r>
            <a:r>
              <a:rPr kumimoji="0" lang="el-G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ά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Στους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συνδυ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ασμούς τύπων: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VT/CP (Top-5): 68.20%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AF/CP (Top-5): 68.33%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Συνολικά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το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VulnTrace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φτάνει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π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ερί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που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~68% Top-5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στα πιο απαιτητικά σενάρια και πάνω από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80%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στα πιο "εύκολα" (CP).</a:t>
            </a:r>
          </a:p>
        </p:txBody>
      </p:sp>
    </p:spTree>
    <p:extLst>
      <p:ext uri="{BB962C8B-B14F-4D97-AF65-F5344CB8AC3E}">
        <p14:creationId xmlns:p14="http://schemas.microsoft.com/office/powerpoint/2010/main" val="2394277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6B860-1E60-4CEA-9D1D-2D049ED92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83656-A6A6-C9A6-FB8B-E4B9E91CE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" y="257176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A</a:t>
            </a:r>
            <a:r>
              <a:rPr lang="el-GR" dirty="0" err="1"/>
              <a:t>ποτελέσματα</a:t>
            </a:r>
            <a:r>
              <a:rPr lang="en-US" dirty="0"/>
              <a:t> </a:t>
            </a:r>
            <a:r>
              <a:rPr lang="en-US" dirty="0" err="1"/>
              <a:t>VulnExtract</a:t>
            </a:r>
            <a:r>
              <a:rPr lang="en-US" dirty="0"/>
              <a:t>+ </a:t>
            </a:r>
            <a:r>
              <a:rPr lang="en-US" dirty="0" err="1"/>
              <a:t>VulnTrace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2297BFE-09C9-1CC9-345E-B2A61E5DAE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3549" y="1430486"/>
            <a:ext cx="8315727" cy="4900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l-GR" dirty="0"/>
              <a:t>Όταν τα δύο συστήματα συνδυάζονται, η ακρίβεια μειώνεται σε σχέση με το </a:t>
            </a:r>
            <a:r>
              <a:rPr lang="el-GR" dirty="0" err="1"/>
              <a:t>VulnTrace</a:t>
            </a:r>
            <a:r>
              <a:rPr lang="el-GR" dirty="0"/>
              <a:t> μόνο, λόγω σφαλμάτων στην αρχική ταξινόμηση των προτάσεων (AF/VT/CP).</a:t>
            </a:r>
          </a:p>
          <a:p>
            <a:r>
              <a:rPr lang="el-GR" dirty="0"/>
              <a:t>Το καλύτερο μοντέλο ήταν ο </a:t>
            </a:r>
            <a:r>
              <a:rPr lang="el-GR" b="1" dirty="0" err="1"/>
              <a:t>UniXcoder</a:t>
            </a:r>
            <a:r>
              <a:rPr lang="el-GR" dirty="0"/>
              <a:t>, με:</a:t>
            </a:r>
          </a:p>
          <a:p>
            <a:pPr lvl="1"/>
            <a:r>
              <a:rPr lang="el-GR" b="1" dirty="0" err="1"/>
              <a:t>VT_Code</a:t>
            </a:r>
            <a:r>
              <a:rPr lang="el-GR" b="1" dirty="0"/>
              <a:t> Top-5:</a:t>
            </a:r>
            <a:r>
              <a:rPr lang="el-GR" dirty="0"/>
              <a:t> 64.0%</a:t>
            </a:r>
          </a:p>
          <a:p>
            <a:pPr lvl="1"/>
            <a:r>
              <a:rPr lang="el-GR" b="1" dirty="0" err="1"/>
              <a:t>AF_Code</a:t>
            </a:r>
            <a:r>
              <a:rPr lang="el-GR" b="1" dirty="0"/>
              <a:t> Top-5:</a:t>
            </a:r>
            <a:r>
              <a:rPr lang="el-GR" dirty="0"/>
              <a:t> 66.74%</a:t>
            </a:r>
          </a:p>
          <a:p>
            <a:pPr lvl="1"/>
            <a:r>
              <a:rPr lang="el-GR" b="1" dirty="0" err="1"/>
              <a:t>CP_Code</a:t>
            </a:r>
            <a:r>
              <a:rPr lang="el-GR" b="1" dirty="0"/>
              <a:t> Top-5:</a:t>
            </a:r>
            <a:r>
              <a:rPr lang="el-GR" dirty="0"/>
              <a:t> 72.03%</a:t>
            </a:r>
          </a:p>
          <a:p>
            <a:r>
              <a:rPr lang="el-GR" dirty="0"/>
              <a:t>Στους συνδυασμούς τύπων προτάσεων:</a:t>
            </a:r>
          </a:p>
          <a:p>
            <a:pPr lvl="1"/>
            <a:r>
              <a:rPr lang="el-GR" b="1" dirty="0"/>
              <a:t>VT/CP Top-5:</a:t>
            </a:r>
            <a:r>
              <a:rPr lang="el-GR" dirty="0"/>
              <a:t> 59.60%</a:t>
            </a:r>
          </a:p>
          <a:p>
            <a:pPr lvl="1"/>
            <a:r>
              <a:rPr lang="el-GR" b="1" dirty="0"/>
              <a:t>AF/CP Top-5:</a:t>
            </a:r>
            <a:r>
              <a:rPr lang="el-GR" dirty="0"/>
              <a:t> 53.10%</a:t>
            </a:r>
          </a:p>
          <a:p>
            <a:r>
              <a:rPr lang="el-GR" dirty="0"/>
              <a:t>Τα αποτελέσματα δείχνουν ότι το συνολικό </a:t>
            </a:r>
            <a:r>
              <a:rPr lang="el-GR" dirty="0" err="1"/>
              <a:t>End-to-End</a:t>
            </a:r>
            <a:r>
              <a:rPr lang="el-GR" dirty="0"/>
              <a:t> </a:t>
            </a:r>
            <a:r>
              <a:rPr lang="el-GR" dirty="0" err="1"/>
              <a:t>pipeline</a:t>
            </a:r>
            <a:r>
              <a:rPr lang="el-GR" dirty="0"/>
              <a:t> επιτυγχάνει </a:t>
            </a:r>
            <a:r>
              <a:rPr lang="el-GR" b="1" dirty="0"/>
              <a:t>55–60% ακρίβεια</a:t>
            </a:r>
            <a:r>
              <a:rPr lang="el-GR" dirty="0"/>
              <a:t>, ενώ για CP φτάνει πάνω από 70%.</a:t>
            </a:r>
          </a:p>
          <a:p>
            <a:r>
              <a:rPr lang="el-GR" dirty="0"/>
              <a:t>Η απόδοση εξαρτάται κυρίως από την ποιότητα του </a:t>
            </a:r>
            <a:r>
              <a:rPr lang="el-GR" dirty="0" err="1"/>
              <a:t>VulnExtract</a:t>
            </a:r>
            <a:r>
              <a:rPr lang="el-GR" dirty="0"/>
              <a:t> και τη δυσκολία της κατηγορίας (VT πιο δύσκολο, CP ευκολότερο).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121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F359A-EFB9-2CA9-D227-A7C2E6DC3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dirty="0"/>
              <a:t>Αποτελέσματα με Χρήστες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BD45B-D571-DDE0-8C85-22682D60F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Η μελέτη συνέκρινε δύο ομάδες:</a:t>
            </a:r>
            <a:b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Group</a:t>
            </a:r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</a:t>
            </a:r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χωρίς το εργαλείο και </a:t>
            </a:r>
            <a:r>
              <a:rPr lang="el-GR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Group</a:t>
            </a:r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</a:t>
            </a:r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με τη βοήθειά του.</a:t>
            </a:r>
          </a:p>
          <a:p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Χρόνος ανάλυσης ανά CVE</a:t>
            </a:r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endParaRPr lang="el-G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el-G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Group</a:t>
            </a:r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A: </a:t>
            </a:r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7.09 λεπτά</a:t>
            </a:r>
            <a:endParaRPr lang="el-G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el-G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Group</a:t>
            </a:r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B: </a:t>
            </a:r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3.44 λεπτά</a:t>
            </a:r>
            <a:b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→ 50% ταχύτερη ανάλυση με το εργαλείο.</a:t>
            </a:r>
          </a:p>
          <a:p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Βαθμολογία κατανόησης</a:t>
            </a:r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endParaRPr lang="el-G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el-G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Group</a:t>
            </a:r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A: </a:t>
            </a:r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3.46</a:t>
            </a:r>
            <a:endParaRPr lang="el-G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el-G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Group</a:t>
            </a:r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B: </a:t>
            </a:r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3.88</a:t>
            </a:r>
            <a:b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→ Καλύτερη ακρίβεια κατανόησης της ευπάθειας.</a:t>
            </a:r>
          </a:p>
          <a:p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Συμπέρασμα</a:t>
            </a:r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b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Το σύστημα βοηθά τους χρήστες να εντοπίζουν </a:t>
            </a:r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το σχετικό κείμενο και τον αντίστοιχο κώδικα</a:t>
            </a:r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πιο γρήγορα και με μεγαλύτερη σαφήνεια, μειώνοντας χειρωνακτικό χρόνο και βελτιώνοντας την κατανόηση των ευπαθειών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291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6E430-4601-B119-C692-AC4FA84AC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819EE-05A3-BAB8-5235-EE6771A03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171" y="-15888"/>
            <a:ext cx="7372350" cy="1325880"/>
          </a:xfrm>
        </p:spPr>
        <p:txBody>
          <a:bodyPr anchor="b">
            <a:normAutofit/>
          </a:bodyPr>
          <a:lstStyle/>
          <a:p>
            <a:pPr algn="ctr"/>
            <a:r>
              <a:rPr lang="el-G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Περιορισμοί &amp; Προκλήσεις</a:t>
            </a:r>
            <a:r>
              <a:rPr lang="el-GR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E55BA74-6FD5-C116-F3AE-487FFE681D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594" y="2393516"/>
            <a:ext cx="802481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l-GR" sz="1800" dirty="0"/>
              <a:t> Εξάρτηση από ποιότητα </a:t>
            </a:r>
            <a:r>
              <a:rPr lang="el-GR" sz="1800" dirty="0" err="1"/>
              <a:t>CVEs</a:t>
            </a:r>
            <a:r>
              <a:rPr lang="el-GR" sz="1800" dirty="0"/>
              <a:t>/</a:t>
            </a:r>
            <a:r>
              <a:rPr lang="el-GR" sz="1800" dirty="0" err="1"/>
              <a:t>commit</a:t>
            </a:r>
            <a:r>
              <a:rPr lang="el-GR" sz="1800" dirty="0"/>
              <a:t> </a:t>
            </a:r>
            <a:r>
              <a:rPr lang="el-GR" sz="1800" dirty="0" err="1"/>
              <a:t>messages</a:t>
            </a:r>
            <a:endParaRPr lang="el-GR" sz="1800" dirty="0"/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l-GR" sz="1800" dirty="0"/>
            </a:br>
            <a:r>
              <a:rPr lang="el-GR" sz="1800" dirty="0"/>
              <a:t>• Αδύναμη 1-προς-1 αντιστοίχιση προτάσεων–κώδικα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l-GR" sz="1800" dirty="0"/>
            </a:br>
            <a:r>
              <a:rPr lang="el-GR" sz="1800" dirty="0"/>
              <a:t>• Χαμηλή ακρίβεια στο VT (το πιο δύσκολο </a:t>
            </a:r>
            <a:r>
              <a:rPr lang="el-GR" sz="1800" dirty="0" err="1"/>
              <a:t>category</a:t>
            </a:r>
            <a:r>
              <a:rPr lang="el-GR" sz="1800" dirty="0"/>
              <a:t>)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l-GR" sz="1800" dirty="0"/>
            </a:br>
            <a:r>
              <a:rPr lang="el-GR" sz="1800" dirty="0"/>
              <a:t>• Λάθη στο </a:t>
            </a:r>
            <a:r>
              <a:rPr lang="el-GR" sz="1800" dirty="0" err="1"/>
              <a:t>VulnExtract</a:t>
            </a:r>
            <a:r>
              <a:rPr lang="el-GR" sz="1800" dirty="0"/>
              <a:t> μειώνουν το </a:t>
            </a:r>
            <a:r>
              <a:rPr lang="el-GR" sz="1800" dirty="0" err="1"/>
              <a:t>End-to-End</a:t>
            </a:r>
            <a:r>
              <a:rPr lang="el-GR" sz="1800" dirty="0"/>
              <a:t> </a:t>
            </a:r>
            <a:r>
              <a:rPr lang="el-GR" sz="1800" dirty="0" err="1"/>
              <a:t>accuracy</a:t>
            </a:r>
            <a:endParaRPr lang="el-GR" sz="1800" dirty="0"/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l-GR" sz="1800" dirty="0"/>
            </a:br>
            <a:r>
              <a:rPr lang="el-GR" sz="1800" dirty="0"/>
              <a:t>• Περιορισμένη γενίκευση σε νέα περιβάλλοντα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3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584324"/>
          </a:xfrm>
        </p:spPr>
        <p:txBody>
          <a:bodyPr/>
          <a:lstStyle/>
          <a:p>
            <a:pPr algn="ctr"/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Μελλοντικές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 Κα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τευθύνσεις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276475"/>
            <a:ext cx="7886700" cy="2759075"/>
          </a:xfrm>
        </p:spPr>
        <p:txBody>
          <a:bodyPr>
            <a:normAutofit fontScale="85000" lnSpcReduction="20000"/>
          </a:bodyPr>
          <a:lstStyle/>
          <a:p>
            <a:r>
              <a:rPr lang="el-GR" dirty="0"/>
              <a:t> Χρήση στην πράξη</a:t>
            </a:r>
            <a:br>
              <a:rPr lang="el-GR" dirty="0"/>
            </a:br>
            <a:r>
              <a:rPr lang="el-GR" dirty="0"/>
              <a:t>–  Τα εργαλεία αυτά μπορούν να μπουν σε </a:t>
            </a:r>
            <a:r>
              <a:rPr lang="el-GR" dirty="0" err="1"/>
              <a:t>IDEs</a:t>
            </a:r>
            <a:r>
              <a:rPr lang="el-GR" dirty="0"/>
              <a:t> ή σε </a:t>
            </a:r>
            <a:r>
              <a:rPr lang="el-GR" dirty="0" err="1"/>
              <a:t>GitHub</a:t>
            </a:r>
            <a:r>
              <a:rPr lang="el-GR" dirty="0"/>
              <a:t> και να βοηθούν προγραμματιστές την ώρα που δουλεύουν.</a:t>
            </a:r>
          </a:p>
          <a:p>
            <a:pPr marL="0" indent="0">
              <a:buNone/>
            </a:pPr>
            <a:endParaRPr lang="el-GR" dirty="0"/>
          </a:p>
          <a:p>
            <a:r>
              <a:rPr lang="el-GR" dirty="0"/>
              <a:t>Καλύτερα δεδομένα</a:t>
            </a:r>
            <a:br>
              <a:rPr lang="el-GR" dirty="0"/>
            </a:br>
            <a:r>
              <a:rPr lang="el-GR" dirty="0"/>
              <a:t>–  Περισσότερα και πιο καθαρά </a:t>
            </a:r>
            <a:r>
              <a:rPr lang="el-GR" dirty="0" err="1"/>
              <a:t>CVEs</a:t>
            </a:r>
            <a:r>
              <a:rPr lang="el-GR" dirty="0"/>
              <a:t>, πιο ξεκάθαρα </a:t>
            </a:r>
            <a:r>
              <a:rPr lang="el-GR" dirty="0" err="1"/>
              <a:t>commit</a:t>
            </a:r>
            <a:r>
              <a:rPr lang="el-GR" dirty="0"/>
              <a:t> </a:t>
            </a:r>
            <a:r>
              <a:rPr lang="el-GR" dirty="0" err="1"/>
              <a:t>messages</a:t>
            </a:r>
            <a:r>
              <a:rPr lang="el-GR" dirty="0"/>
              <a:t>, περισσότερα </a:t>
            </a:r>
            <a:r>
              <a:rPr lang="el-GR" dirty="0" err="1"/>
              <a:t>projects</a:t>
            </a:r>
            <a:r>
              <a:rPr lang="el-GR" dirty="0"/>
              <a:t>.</a:t>
            </a:r>
          </a:p>
          <a:p>
            <a:pPr marL="0" indent="0">
              <a:buNone/>
            </a:pPr>
            <a:endParaRPr lang="el-GR" dirty="0"/>
          </a:p>
          <a:p>
            <a:r>
              <a:rPr lang="el-GR" dirty="0"/>
              <a:t> Καλύτερα μοντέλα</a:t>
            </a:r>
            <a:br>
              <a:rPr lang="el-GR" dirty="0"/>
            </a:br>
            <a:r>
              <a:rPr lang="el-GR" dirty="0"/>
              <a:t>–  Εκπαίδευση των μοντέλων σε συγκεκριμένα </a:t>
            </a:r>
            <a:r>
              <a:rPr lang="el-GR" dirty="0" err="1"/>
              <a:t>projects</a:t>
            </a:r>
            <a:r>
              <a:rPr lang="el-GR" dirty="0"/>
              <a:t> ώστε να “μαθαίνουν” το στιλ και τον κώδικα κάθε ομάδας.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Συμ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πέρασμα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54B8410-849B-5B9D-D68C-46BD3C4A01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416925"/>
            <a:ext cx="7480300" cy="3144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l-GR" sz="1800" dirty="0"/>
              <a:t>Η έρευνα δείχνει ότι η AI μπορεί πλέον να “διαβάσει” ευπάθειες όπως ένας έμπειρος προγραμματιστής.</a:t>
            </a:r>
          </a:p>
          <a:p>
            <a:pPr marL="0" indent="0">
              <a:buNone/>
            </a:pPr>
            <a:br>
              <a:rPr lang="el-GR" sz="1800" dirty="0"/>
            </a:br>
            <a:r>
              <a:rPr lang="el-GR" sz="1800" dirty="0"/>
              <a:t>• Ο συνδυασμός </a:t>
            </a:r>
            <a:r>
              <a:rPr lang="el-GR" sz="1800" dirty="0" err="1"/>
              <a:t>VulnExtract</a:t>
            </a:r>
            <a:r>
              <a:rPr lang="el-GR" sz="1800" dirty="0"/>
              <a:t> + </a:t>
            </a:r>
            <a:r>
              <a:rPr lang="el-GR" sz="1800" dirty="0" err="1"/>
              <a:t>VulnTrace</a:t>
            </a:r>
            <a:r>
              <a:rPr lang="el-GR" sz="1800" dirty="0"/>
              <a:t> είναι το πρώτο βήμα προς ένα </a:t>
            </a:r>
            <a:r>
              <a:rPr lang="el-GR" sz="1800" dirty="0" err="1"/>
              <a:t>end-to-end</a:t>
            </a:r>
            <a:r>
              <a:rPr lang="el-GR" sz="1800" dirty="0"/>
              <a:t> μοντέλο κατανόησης ευπαθειών.</a:t>
            </a:r>
          </a:p>
          <a:p>
            <a:pPr marL="0" indent="0">
              <a:buNone/>
            </a:pPr>
            <a:br>
              <a:rPr lang="el-GR" sz="1800" dirty="0"/>
            </a:br>
            <a:r>
              <a:rPr lang="el-GR" sz="1800" dirty="0"/>
              <a:t>• Δεν είναι ακόμη έτοιμο για παραγωγή, αλλά τα αποτελέσματα δείχνουν ξεκάθαρα την κατεύθυνση για το μέλλον.</a:t>
            </a:r>
          </a:p>
          <a:p>
            <a:pPr marL="0" indent="0">
              <a:buNone/>
            </a:pPr>
            <a:br>
              <a:rPr lang="el-GR" sz="1800" dirty="0"/>
            </a:br>
            <a:r>
              <a:rPr lang="el-GR" sz="1800" b="1" dirty="0"/>
              <a:t>• </a:t>
            </a:r>
            <a:r>
              <a:rPr lang="el-GR" sz="1800" dirty="0"/>
              <a:t>Το πιο σημαντικό: αποδεικνύει ότι η AI δεν βοηθά μόνο στο </a:t>
            </a:r>
            <a:r>
              <a:rPr lang="el-GR" sz="1800" i="1" dirty="0" err="1"/>
              <a:t>fixing</a:t>
            </a:r>
            <a:r>
              <a:rPr lang="el-GR" sz="1800" dirty="0"/>
              <a:t>, αλλά και στο </a:t>
            </a:r>
            <a:r>
              <a:rPr lang="el-GR" sz="1800" i="1" dirty="0" err="1"/>
              <a:t>thinking</a:t>
            </a:r>
            <a:r>
              <a:rPr lang="el-GR" sz="1800"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78559-6B95-FCD0-FB92-F4B1AC0B9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E54F5-FAE3-A87D-7DC4-57C05E94C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2471449"/>
            <a:ext cx="7886700" cy="1325563"/>
          </a:xfrm>
        </p:spPr>
        <p:txBody>
          <a:bodyPr/>
          <a:lstStyle/>
          <a:p>
            <a:pPr algn="ctr"/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Ευχαριστώ για την προσοχή σας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C84714A-8F6B-4422-4E5F-12BFE31ED8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1450" y="2730284"/>
            <a:ext cx="7480300" cy="343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l-GR" sz="1800" dirty="0"/>
          </a:p>
        </p:txBody>
      </p:sp>
    </p:spTree>
    <p:extLst>
      <p:ext uri="{BB962C8B-B14F-4D97-AF65-F5344CB8AC3E}">
        <p14:creationId xmlns:p14="http://schemas.microsoft.com/office/powerpoint/2010/main" val="3850507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514</TotalTime>
  <Words>1404</Words>
  <Application>Microsoft Office PowerPoint</Application>
  <PresentationFormat>On-screen Show (4:3)</PresentationFormat>
  <Paragraphs>120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Διδάσκοντας στην Τεχνητή Νοημοσύνη το «Γιατί» και το «Πώς» των Διορθώσεων Ευπαθειών Λογισμικού(Bug Fix </vt:lpstr>
      <vt:lpstr>Το Πρόβλημα</vt:lpstr>
      <vt:lpstr>Η Δυσκολία εντοπισμού και κατανόησης των  προβλημάτων</vt:lpstr>
      <vt:lpstr>Παράδειγμα CVE + Code</vt:lpstr>
      <vt:lpstr>Ο Στόχος της έρευνας </vt:lpstr>
      <vt:lpstr>Γραφική αναπαράσταση μοντέλου.</vt:lpstr>
      <vt:lpstr>Δεδομένα </vt:lpstr>
      <vt:lpstr>VulnExtract </vt:lpstr>
      <vt:lpstr>VulnTrace</vt:lpstr>
      <vt:lpstr> Πώς γίνεται το ταίριασμα προτάσεων με κώδικα (VulnTrace) </vt:lpstr>
      <vt:lpstr>Aποτελέσματα VulnExtract</vt:lpstr>
      <vt:lpstr>Aποτελέσματα VulnTrace</vt:lpstr>
      <vt:lpstr>Aποτελέσματα VulnExtract+ VulnTrace</vt:lpstr>
      <vt:lpstr>Αποτελέσματα με Χρήστες</vt:lpstr>
      <vt:lpstr>Περιορισμοί &amp; Προκλήσεις </vt:lpstr>
      <vt:lpstr>Μελλοντικές Κατευθύνσεις</vt:lpstr>
      <vt:lpstr>Συμπέρασμα</vt:lpstr>
      <vt:lpstr>Ευχαριστώ για την προσοχή σας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Vasileios Kyriakopoulos</cp:lastModifiedBy>
  <cp:revision>17</cp:revision>
  <dcterms:created xsi:type="dcterms:W3CDTF">2013-01-27T09:14:16Z</dcterms:created>
  <dcterms:modified xsi:type="dcterms:W3CDTF">2025-11-24T20:19:58Z</dcterms:modified>
  <cp:category/>
</cp:coreProperties>
</file>