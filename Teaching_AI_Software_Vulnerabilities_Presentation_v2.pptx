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76" r:id="rId5"/>
    <p:sldId id="260" r:id="rId6"/>
    <p:sldId id="259" r:id="rId7"/>
    <p:sldId id="261" r:id="rId8"/>
    <p:sldId id="269" r:id="rId9"/>
    <p:sldId id="270" r:id="rId10"/>
    <p:sldId id="277" r:id="rId11"/>
    <p:sldId id="278" r:id="rId12"/>
    <p:sldId id="268" r:id="rId13"/>
    <p:sldId id="263" r:id="rId14"/>
    <p:sldId id="264" r:id="rId15"/>
    <p:sldId id="273" r:id="rId16"/>
    <p:sldId id="274" r:id="rId17"/>
    <p:sldId id="272" r:id="rId18"/>
    <p:sldId id="279" r:id="rId19"/>
    <p:sldId id="271" r:id="rId20"/>
    <p:sldId id="266" r:id="rId21"/>
    <p:sldId id="267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4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BD26-1A35-9368-5196-EC489240C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C37FA-D8B9-0099-C9A2-3CA8E2A19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4215-15ED-9E09-04A8-20AFD6BB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FAAC-9247-1435-62AB-D1C8DF8E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1FEE-46E9-8DBB-0741-43E0C2F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5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4D97-E2F2-4643-4475-87CFA793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8B2C8-1AC3-138E-9AED-30C8C8189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EA-698D-35B8-BE24-442513C3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CF528-EB41-80BA-679F-5AE88DBD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8ED4-FA0F-FFD6-29D5-1F4413DC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4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71B6-504B-8CD9-5537-5F029F59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4480A-57BE-1BC3-BD72-D27F5FAC6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8089B-6B86-FF82-90A1-91A133F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86B1-930F-A184-EFD3-7B0EDB6D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EE108-16DD-98D6-1110-7B1A10C6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5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ABB3-0EFF-B7F8-7F14-5A3038C5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0C7E-308D-1C32-55B1-5D6BBCA44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AF2FB-2916-9E2D-1C25-660AA2AEC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C1597-15AC-AFC4-AB33-87083D25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D532-55FF-6212-FB97-D12A8A92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9C181-39E0-1697-5137-A2759840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6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538E-E4DC-B24E-3782-E66C001A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6AE3-C44E-F227-5C91-2136253E6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1686E-8EEE-24D7-D147-0CC414989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F2378-D205-D63E-F3D8-D14D3F89E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DCCA3-ECD6-7EEC-9009-B8986DED2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9C242-DCAD-F589-4D85-5312790B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B304A-163F-2D4B-B221-7D3A03F3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C9E91-4653-AB69-24DE-40EC531C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4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2910-2D71-967E-2148-D8476C15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D365A-8955-A595-E59E-9DACC7E0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755DF-503D-FC09-1B8A-7F6560D2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21F6-B52C-9545-17CF-6671580B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8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20CD6-540B-7393-9BE8-5865CB57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CCFB4-161A-D1ED-F246-DEB1130A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A5780-584E-2F92-5400-6EB5531A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6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972E-E796-5FBD-76DC-910D32F1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16FC-7845-2FCA-4125-7D38A31F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514F7-A14A-8FEA-0D28-F1340FAB4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94816-2F1F-95EA-CD19-C75D3B00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04C4A-F59C-37FB-62AE-E2E1FCD3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8D63-5A51-95C6-DA50-F15BF783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5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0F39-506A-E791-3436-CB8F5490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653D7-AC99-3975-739B-C9A40E848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D1640-C406-7F2F-9001-CE5D6938E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BC4B4-043F-0E51-B2F6-005B5360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0951B-2628-B267-5EB6-186B7077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FC02B-D0CF-38E6-397B-E54178F2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CF2-8C19-3A13-085B-2AD10660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20D14-103D-4276-671D-428EF7AD7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CB73E-EF7A-649C-BC9B-05E26E8D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5B3C-BFF8-F465-815C-D2A5FB14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9162-BBCC-1D58-691F-EF78ED56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2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7DF25-ECE7-018F-6AB5-F3F373698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4FFB4-5D1B-092F-2EB0-AFEA35566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1591A-FAD3-76D1-3389-0A6DB411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9393-5647-4A2E-739A-56ABD892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4FC2-974E-16A7-BA39-5C86CB7F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8B4F7-280E-19A7-CA22-AA8779F6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FE87C-44B3-07F2-9CE7-EF18ACA63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C98C-18CA-012A-7840-17C1903A4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43F0B-B378-2E60-062A-4364A047D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9CB48-3C72-9255-21B5-303CB90AC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4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3729360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Διδάσκοντας στην Τεχνητή Νοημοσύνη το «Γιατί» και το «Πώς» των Διορθώσεων Ευπαθειών Λογισμικού(</a:t>
            </a:r>
            <a:r>
              <a:rPr lang="el-G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Bug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Fix</a:t>
            </a:r>
            <a:b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l-G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Μάθημα: 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Θέματα Πληροφοριακών συστημάτων- Π.Μ.Σ. «Επιστήμης Υπολογιστών»</a:t>
            </a:r>
          </a:p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Έρευνα: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Gao, A., Zhang, Z., Wang, S., Huang, L., Wei, S., &amp; Ng, V. (2025). 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Teaching AI the “Why” and “How” of Software Vulnerability Fixes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Proceedings of the ACM on Software Engineering, 2(FSE), Article FSE090.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https://doi.org/10.1145/3729360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7F570E4-27B3-7E1B-DFC6-F50DC1DC78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936953E-EEB6-5EEF-0A86-518B522AEC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56214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Software engineering 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&amp;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endParaRPr lang="el-GR" sz="3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057400"/>
            <a:ext cx="7702296" cy="3997645"/>
          </a:xfrm>
        </p:spPr>
        <p:txBody>
          <a:bodyPr anchor="ctr">
            <a:normAutofit/>
          </a:bodyPr>
          <a:lstStyle/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τεχνητή νοημοσύνη έχει εφαρμογές σε πολλούς κλάδους.</a:t>
            </a: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Ένα πολύ ενδιαφέρον κομμάτι που εφαρμόζεται η τεχνική νοημοσύνη είναι το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software engineering.</a:t>
            </a: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Ευρέως γνωστό είναι ότι η τεχνητή νοημοσύνη χρησιμοποιείται για συγγραφή κώδικα (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 generation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συγγραφή κώδικα αποτελεί ένα κομμάτι της δουλείας ενός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developer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αλλά δεν είναι το μόνο.</a:t>
            </a:r>
          </a:p>
          <a:p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Ένα πολύ σημαντικό και δύσκολο κομμάτι της δουλείας ενός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developer </a:t>
            </a:r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είναι  να καταλαβαίνει </a:t>
            </a:r>
            <a:r>
              <a:rPr lang="el-GR" sz="1600" i="1" dirty="0">
                <a:solidFill>
                  <a:schemeClr val="bg2">
                    <a:lumMod val="25000"/>
                  </a:schemeClr>
                </a:solidFill>
              </a:rPr>
              <a:t>γιατί</a:t>
            </a:r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 υπάρχει μια ευπάθεια και </a:t>
            </a:r>
            <a:r>
              <a:rPr lang="el-GR" sz="1600" i="1" dirty="0">
                <a:solidFill>
                  <a:schemeClr val="bg2">
                    <a:lumMod val="25000"/>
                  </a:schemeClr>
                </a:solidFill>
              </a:rPr>
              <a:t>πώς</a:t>
            </a:r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 διορθώθηκε.</a:t>
            </a:r>
          </a:p>
          <a:p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Η διαδικασία αυτή είναι </a:t>
            </a:r>
            <a:r>
              <a:rPr lang="el-GR" sz="1600" b="1" dirty="0">
                <a:solidFill>
                  <a:schemeClr val="bg2">
                    <a:lumMod val="25000"/>
                  </a:schemeClr>
                </a:solidFill>
              </a:rPr>
              <a:t>δύσκολη</a:t>
            </a:r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 και απαιτεί </a:t>
            </a:r>
            <a:r>
              <a:rPr lang="el-GR" sz="1600" b="1" dirty="0">
                <a:solidFill>
                  <a:schemeClr val="bg2">
                    <a:lumMod val="25000"/>
                  </a:schemeClr>
                </a:solidFill>
              </a:rPr>
              <a:t>χρόνο</a:t>
            </a:r>
            <a:r>
              <a:rPr lang="el-GR" sz="16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38328"/>
            <a:ext cx="8121396" cy="1773936"/>
          </a:xfrm>
        </p:spPr>
        <p:txBody>
          <a:bodyPr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Τι είναι μια ευπάθεια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322" y="1461744"/>
            <a:ext cx="7901727" cy="4954296"/>
          </a:xfrm>
        </p:spPr>
        <p:txBody>
          <a:bodyPr anchor="ctr">
            <a:normAutofit/>
          </a:bodyPr>
          <a:lstStyle/>
          <a:p>
            <a:r>
              <a:rPr lang="el-GR" sz="1800" dirty="0">
                <a:solidFill>
                  <a:schemeClr val="bg2">
                    <a:lumMod val="25000"/>
                  </a:schemeClr>
                </a:solidFill>
              </a:rPr>
              <a:t> Στον πραγματικό κόσμο, ένα </a:t>
            </a:r>
            <a:r>
              <a:rPr lang="el-GR" sz="1800" dirty="0" err="1">
                <a:solidFill>
                  <a:schemeClr val="bg2">
                    <a:lumMod val="25000"/>
                  </a:schemeClr>
                </a:solidFill>
              </a:rPr>
              <a:t>bug</a:t>
            </a:r>
            <a:r>
              <a:rPr lang="el-GR" sz="1800" dirty="0">
                <a:solidFill>
                  <a:schemeClr val="bg2">
                    <a:lumMod val="25000"/>
                  </a:schemeClr>
                </a:solidFill>
              </a:rPr>
              <a:t> ή μια ευπάθεια δεν είναι μόνο μια γραμμή κώδικα.</a:t>
            </a:r>
          </a:p>
          <a:p>
            <a:r>
              <a:rPr lang="el-GR" sz="1800" dirty="0">
                <a:solidFill>
                  <a:schemeClr val="bg2">
                    <a:lumMod val="25000"/>
                  </a:schemeClr>
                </a:solidFill>
              </a:rPr>
              <a:t>Αποτελείται από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el-GR" sz="1800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l-GR" b="1" dirty="0">
                <a:solidFill>
                  <a:schemeClr val="bg2">
                    <a:lumMod val="25000"/>
                  </a:schemeClr>
                </a:solidFill>
              </a:rPr>
              <a:t>κείμενο φυσικής γλώσσας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(CVE reports, commit messages) 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l-GR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– ποια συνθήκη την προκαλεί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VT:Vulnerability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Trigger)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,</a:t>
            </a:r>
            <a:br>
              <a:rPr lang="el-GR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– πώς εκδηλώνεται σε </a:t>
            </a:r>
            <a:r>
              <a:rPr lang="el-GR" dirty="0" err="1">
                <a:solidFill>
                  <a:schemeClr val="bg2">
                    <a:lumMod val="25000"/>
                  </a:schemeClr>
                </a:solidFill>
              </a:rPr>
              <a:t>crash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/error (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CP:Crash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Phenomenon)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,</a:t>
            </a:r>
            <a:br>
              <a:rPr lang="el-GR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– και τι ακριβώς αλλάζει ώστε να επιλυθεί (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AF:After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Fix)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lvl="1"/>
            <a:r>
              <a:rPr lang="el-GR" b="1" dirty="0">
                <a:solidFill>
                  <a:schemeClr val="bg2">
                    <a:lumMod val="25000"/>
                  </a:schemeClr>
                </a:solidFill>
              </a:rPr>
              <a:t>Κώδικα 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diffs, patches)</a:t>
            </a:r>
            <a:endParaRPr lang="el-GR" dirty="0">
              <a:solidFill>
                <a:schemeClr val="bg2">
                  <a:lumMod val="25000"/>
                </a:schemeClr>
              </a:solidFill>
            </a:endParaRPr>
          </a:p>
          <a:p>
            <a:pPr lvl="1"/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Στον κώδικα μπορεί κανείς να εντοπίσει τα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VT,CP,AF</a:t>
            </a:r>
          </a:p>
          <a:p>
            <a:pPr lvl="1"/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Η πληροφορία αυτή όμως είναι σκορπισμένη</a:t>
            </a:r>
            <a:br>
              <a:rPr lang="el-GR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Κανένα μοντέλο μέχρι πρόσφατα δεν είχε την ικανότητα να τα ενώσει πραγματικά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και να βοηθήσει τον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developer </a:t>
            </a:r>
            <a:r>
              <a:rPr lang="el-GR" dirty="0">
                <a:solidFill>
                  <a:schemeClr val="bg2">
                    <a:lumMod val="25000"/>
                  </a:schemeClr>
                </a:solidFill>
              </a:rPr>
              <a:t>σε αυτή την δραστηριότητα κατανόησης και εντοπισμού.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F22F-0EE7-FDBB-94F3-1F7DD3B2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Ποια είναι η δυσκολία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14AF1-9B8B-8EF6-ED9B-AA5E1CA61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92525"/>
          </a:xfrm>
        </p:spPr>
        <p:txBody>
          <a:bodyPr/>
          <a:lstStyle/>
          <a:p>
            <a:r>
              <a:rPr lang="el-GR" dirty="0"/>
              <a:t>Τα κείμενα δεν είναι πάντα καλογραμμένα και κατανοητά καθώς γράφονται υπό πίεση και δεν αποτελούν τον κεντρικό στόχο της εργασίας.</a:t>
            </a:r>
          </a:p>
          <a:p>
            <a:r>
              <a:rPr lang="el-GR" dirty="0"/>
              <a:t>Ο εντοπισμός των εννοιών που είπαμε προηγουμένως στον κώδικα δεν απλή διαδικασία.</a:t>
            </a:r>
          </a:p>
          <a:p>
            <a:r>
              <a:rPr lang="el-GR" dirty="0"/>
              <a:t>Τα </a:t>
            </a:r>
            <a:r>
              <a:rPr lang="en-US" dirty="0"/>
              <a:t>code base </a:t>
            </a:r>
            <a:r>
              <a:rPr lang="el-GR" dirty="0"/>
              <a:t>είναι πολλές φορές πάρα πολύ μεγάλα.</a:t>
            </a:r>
          </a:p>
          <a:p>
            <a:r>
              <a:rPr lang="el-GR" dirty="0"/>
              <a:t>Έλλειψη χρόνου για μελέτη των ευπαθειών.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9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Παράδειγμα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CVE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</a:t>
            </a:r>
            <a:r>
              <a:rPr lang="en-US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Blue -&gt; VT (Vulnerability Trigger)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Red -&gt; AF (After-Fix / Fix Action)</a:t>
            </a:r>
          </a:p>
          <a:p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Yellow -&gt; CP (Crash Phenomenon)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160D5F-CB7E-9D9F-9731-A23B87C2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912" y="3276702"/>
            <a:ext cx="4748202" cy="2514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069" y="282701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Ο Στόχος της έρευνας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519" y="2510865"/>
            <a:ext cx="7375161" cy="31877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Στόχος της έρευνας είναι να χρησιμοποιηθεί η τεχνητή νοημοσύνη για να επιταχύνει την διαδικασία κατανόησης και εντοπισμού των προβλημάτων.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Θα χρησιμοποιήσουμε την ακόλουθη λογική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1)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έναν αλγόριθμο μηχανικής μάθησης  να καταλαβαίνει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στο κείμενο τα παρακάτω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Την ενέργεια που εφαρμόστηκε για να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διορθωθεί το πρόβλημα(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  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Το σημείο/συνθήκη που προκαλεί την ευπάθεια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(VT)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αποτέλεσμα που προκαλεί το σφάλμα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(CP)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2) Δημιουργία ενός μοντέλου ιχνηλασιμότητας (</a:t>
            </a:r>
            <a:r>
              <a:rPr lang="el-G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traceability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που συνδέει προτάσεις κειμένου με γραμμές κώδικα. </a:t>
            </a:r>
          </a:p>
          <a:p>
            <a:pPr marL="0" indent="0">
              <a:buNone/>
            </a:pP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3) Συνδυασμός των δυο συστημάτων </a:t>
            </a:r>
          </a:p>
          <a:p>
            <a:pPr marL="0" indent="0">
              <a:buNone/>
            </a:pP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2" y="28940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Γραφική αναπαράσταση μοντέλου.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015" y="1158796"/>
            <a:ext cx="4689389" cy="2347239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tract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εντοπισμός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VT, CP, AF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στο  κείμενο.</a:t>
            </a: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VulnTrace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αντιστοίχιση με γραμμές κώδικα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6F883-F908-A725-620C-B5E531B1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7" y="3125905"/>
            <a:ext cx="8485955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E7C5-2BC1-18A9-176B-2423CBE7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338D-0EEF-26AA-2FEF-396DB3FA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32" y="28940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Δεδομένα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5F705-4F3A-F3AA-D4A4-7B9E3188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378" y="1848370"/>
            <a:ext cx="7372350" cy="3561830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341 CVEs, 2439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προτάσεις, 6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source project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το πρώτο βήμα εμπλουτίστηκαν τα κείμενα με έξτρα χαρακτηριστικά( 37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patterns).</a:t>
            </a:r>
            <a:endParaRPr lang="el-G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Τα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είναι </a:t>
            </a:r>
            <a:r>
              <a:rPr lang="el-G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κανόνες/μοτίβα γλώσσας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που εμφανίζονται συχνά σε περιγραφές ευπαθειών.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Παραδείγματα μοτίβων:</a:t>
            </a:r>
            <a:b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patch fixes…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 (Fix Action)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Caused by…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VT (Vulnerability Trigger)</a:t>
            </a:r>
            <a:b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“</a:t>
            </a:r>
            <a:r>
              <a:rPr lang="en-US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crash when…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→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δείχνει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 (Crash Phenomenon)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Έγινε εκπαίδευση του αλγορίθμου με και χωρίς τα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patterns </a:t>
            </a:r>
            <a:r>
              <a:rPr lang="el-G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να δούμε αν βοηθούν το μοντέλο.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33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8913-3DDD-196E-3FDD-84788E88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928A-1816-7C5E-8CB2-D1B7826C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71" y="-1588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903F-098E-86EE-EAF9-2F06CC14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92" y="1743534"/>
            <a:ext cx="7694179" cy="4710457"/>
          </a:xfrm>
        </p:spPr>
        <p:txBody>
          <a:bodyPr anchor="ctr">
            <a:normAutofit/>
          </a:bodyPr>
          <a:lstStyle/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Στόχος του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VulnExtract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είναι να αναγνωρίζει αυτόματα μέσα σε κείμενα (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messages, CVEs)</a:t>
            </a:r>
            <a:b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ποιες προτάσεις περιγράφουν: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Vulnerability Trigger (VT),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Crash Phenomenon (CP),</a:t>
            </a:r>
          </a:p>
          <a:p>
            <a:pPr lvl="1"/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και το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After-Fix (AF).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πρόβλημα είναι 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δυαδική κατηγοριοποίηση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για κάθε τύπο πρότασης.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Εκπαιδεύονται τρία ξεχωριστά μοντέλα, ένα για κάθε κατηγορία.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Χρησιμοποιήθηκε ο αλγόριθμος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SVM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Support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Vector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Machine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τόσο με χαρακτηριστικά μόνο από το κείμενο,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όσο και με πρόσθετα γλωσσικά μοτίβα (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patterns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Επιπλέον, δοκιμάστηκαν </a:t>
            </a:r>
            <a:r>
              <a:rPr lang="el-G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μοντέλα φυσικής γλώσσας 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όπως BERT, </a:t>
            </a:r>
            <a:r>
              <a:rPr lang="el-GR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RoBERTa</a:t>
            </a: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και ELECTRA</a:t>
            </a:r>
            <a:b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για να αξιολογηθεί πώς αποδίδουν σε σχέση με τα κλασικά ML μοντέλα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</a:t>
            </a:r>
            <a:endParaRPr lang="el-G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el-GR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578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DF4B-C1B5-338E-7F59-2D391C56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Τροφοδότη Δεδομένων στον </a:t>
            </a:r>
            <a:r>
              <a:rPr lang="en-US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BFD2-4574-8470-D797-14C785D00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Για κάθε πρόταση εφαρμόζονται δύο επίπεδα </a:t>
            </a:r>
            <a:r>
              <a:rPr lang="el-GR" dirty="0" err="1"/>
              <a:t>προεπεξεργασίας</a:t>
            </a:r>
            <a:r>
              <a:rPr lang="el-GR" dirty="0"/>
              <a:t>:</a:t>
            </a:r>
          </a:p>
          <a:p>
            <a:r>
              <a:rPr lang="el-GR" b="1" dirty="0"/>
              <a:t>a) </a:t>
            </a:r>
            <a:r>
              <a:rPr lang="el-GR" b="1" dirty="0" err="1"/>
              <a:t>Vectorizer</a:t>
            </a:r>
            <a:r>
              <a:rPr lang="el-GR" b="1" dirty="0"/>
              <a:t> (</a:t>
            </a:r>
            <a:r>
              <a:rPr lang="el-GR" b="1" dirty="0" err="1"/>
              <a:t>Bag</a:t>
            </a:r>
            <a:r>
              <a:rPr lang="el-GR" b="1" dirty="0"/>
              <a:t>-of-</a:t>
            </a:r>
            <a:r>
              <a:rPr lang="el-GR" b="1" dirty="0" err="1"/>
              <a:t>Words</a:t>
            </a:r>
            <a:r>
              <a:rPr lang="el-GR" b="1" dirty="0"/>
              <a:t> / N-</a:t>
            </a:r>
            <a:r>
              <a:rPr lang="el-GR" b="1" dirty="0" err="1"/>
              <a:t>grams</a:t>
            </a:r>
            <a:r>
              <a:rPr lang="el-GR" b="1" dirty="0"/>
              <a:t>)</a:t>
            </a:r>
            <a:endParaRPr lang="el-GR" dirty="0"/>
          </a:p>
          <a:p>
            <a:pPr lvl="1"/>
            <a:r>
              <a:rPr lang="el-GR" dirty="0"/>
              <a:t>Μετατρέπει την πρόταση σε διανυσματική αναπαράσταση βασισμένη σε </a:t>
            </a:r>
            <a:r>
              <a:rPr lang="el-GR" dirty="0" err="1"/>
              <a:t>unigrams</a:t>
            </a:r>
            <a:r>
              <a:rPr lang="el-GR" dirty="0"/>
              <a:t>, </a:t>
            </a:r>
            <a:r>
              <a:rPr lang="el-GR" dirty="0" err="1"/>
              <a:t>bigrams</a:t>
            </a:r>
            <a:r>
              <a:rPr lang="el-GR" dirty="0"/>
              <a:t>, </a:t>
            </a:r>
            <a:r>
              <a:rPr lang="el-GR" dirty="0" err="1"/>
              <a:t>trigrams</a:t>
            </a:r>
            <a:r>
              <a:rPr lang="el-GR" dirty="0"/>
              <a:t>.</a:t>
            </a:r>
          </a:p>
          <a:p>
            <a:pPr lvl="1"/>
            <a:r>
              <a:rPr lang="el-GR" dirty="0"/>
              <a:t>Το αποτέλεσμα είναι ένα </a:t>
            </a:r>
            <a:r>
              <a:rPr lang="el-GR" b="1" dirty="0" err="1"/>
              <a:t>sparse</a:t>
            </a:r>
            <a:r>
              <a:rPr lang="el-GR" b="1" dirty="0"/>
              <a:t> </a:t>
            </a:r>
            <a:r>
              <a:rPr lang="el-GR" b="1" dirty="0" err="1"/>
              <a:t>vector</a:t>
            </a:r>
            <a:r>
              <a:rPr lang="el-GR" b="1" dirty="0"/>
              <a:t> </a:t>
            </a:r>
            <a:r>
              <a:rPr lang="el-GR" dirty="0"/>
              <a:t>που περιγράφει ποια </a:t>
            </a:r>
            <a:r>
              <a:rPr lang="el-GR" dirty="0" err="1"/>
              <a:t>tokens</a:t>
            </a:r>
            <a:r>
              <a:rPr lang="el-GR" dirty="0"/>
              <a:t> εμφανίζονται και με ποια συχνότητα.</a:t>
            </a:r>
          </a:p>
          <a:p>
            <a:r>
              <a:rPr lang="el-GR" b="1" dirty="0"/>
              <a:t>b) </a:t>
            </a:r>
            <a:r>
              <a:rPr lang="el-GR" b="1" dirty="0" err="1"/>
              <a:t>Pattern</a:t>
            </a:r>
            <a:r>
              <a:rPr lang="el-GR" b="1" dirty="0"/>
              <a:t> </a:t>
            </a:r>
            <a:r>
              <a:rPr lang="el-GR" b="1" dirty="0" err="1"/>
              <a:t>Features</a:t>
            </a:r>
            <a:endParaRPr lang="el-GR" dirty="0"/>
          </a:p>
          <a:p>
            <a:pPr lvl="1"/>
            <a:r>
              <a:rPr lang="el-GR" dirty="0"/>
              <a:t>Οι 37 </a:t>
            </a:r>
            <a:r>
              <a:rPr lang="el-GR" dirty="0" err="1"/>
              <a:t>discourse</a:t>
            </a:r>
            <a:r>
              <a:rPr lang="el-GR" dirty="0"/>
              <a:t> </a:t>
            </a:r>
            <a:r>
              <a:rPr lang="el-GR" dirty="0" err="1"/>
              <a:t>patterns</a:t>
            </a:r>
            <a:r>
              <a:rPr lang="el-GR" dirty="0"/>
              <a:t> μετατρέπονται σε </a:t>
            </a:r>
            <a:r>
              <a:rPr lang="el-GR" b="1" dirty="0" err="1"/>
              <a:t>binary</a:t>
            </a:r>
            <a:r>
              <a:rPr lang="el-GR" b="1" dirty="0"/>
              <a:t> </a:t>
            </a:r>
            <a:r>
              <a:rPr lang="el-GR" b="1" dirty="0" err="1"/>
              <a:t>features</a:t>
            </a:r>
            <a:r>
              <a:rPr lang="el-GR" dirty="0"/>
              <a:t>.</a:t>
            </a:r>
          </a:p>
          <a:p>
            <a:pPr lvl="1"/>
            <a:r>
              <a:rPr lang="el-GR" dirty="0"/>
              <a:t>Για κάθε </a:t>
            </a:r>
            <a:r>
              <a:rPr lang="el-GR" dirty="0" err="1"/>
              <a:t>pattern</a:t>
            </a:r>
            <a:r>
              <a:rPr lang="el-GR" dirty="0"/>
              <a:t> υπάρχει τιμή 1/0 αν η πρόταση το περιέχει.</a:t>
            </a:r>
          </a:p>
          <a:p>
            <a:r>
              <a:rPr lang="el-GR" dirty="0"/>
              <a:t>Το SVM λαμβάνει </a:t>
            </a:r>
            <a:r>
              <a:rPr lang="el-GR" b="1" dirty="0"/>
              <a:t>το ενωμένο χαρακτηριστικό διάνυσμα</a:t>
            </a:r>
            <a:r>
              <a:rPr lang="el-GR" dirty="0"/>
              <a:t> (</a:t>
            </a:r>
            <a:r>
              <a:rPr lang="el-GR" dirty="0" err="1"/>
              <a:t>ngram</a:t>
            </a:r>
            <a:r>
              <a:rPr lang="el-GR" dirty="0"/>
              <a:t> </a:t>
            </a:r>
            <a:r>
              <a:rPr lang="el-GR" dirty="0" err="1"/>
              <a:t>vector</a:t>
            </a:r>
            <a:r>
              <a:rPr lang="el-GR" dirty="0"/>
              <a:t> + </a:t>
            </a:r>
            <a:r>
              <a:rPr lang="el-GR" dirty="0" err="1"/>
              <a:t>pattern</a:t>
            </a:r>
            <a:r>
              <a:rPr lang="el-GR" dirty="0"/>
              <a:t> </a:t>
            </a:r>
            <a:r>
              <a:rPr lang="el-GR" dirty="0" err="1"/>
              <a:t>vector</a:t>
            </a:r>
            <a:r>
              <a:rPr lang="el-GR" dirty="0"/>
              <a:t>) και ταξινομεί την πρόταση.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0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E1CB-1934-872F-9B34-7794FAA2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Τροφοδότηση Δεδομένων στα μοντέλα φυσικής γλώσσας.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7503-274E-19F2-8954-352132CC2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851275"/>
          </a:xfrm>
        </p:spPr>
        <p:txBody>
          <a:bodyPr/>
          <a:lstStyle/>
          <a:p>
            <a:r>
              <a:rPr lang="el-GR" sz="2000" dirty="0"/>
              <a:t>Για κάθε πρόταση:</a:t>
            </a:r>
          </a:p>
          <a:p>
            <a:pPr lvl="1"/>
            <a:r>
              <a:rPr lang="en-US" sz="2000" b="1" dirty="0"/>
              <a:t>Tokenization</a:t>
            </a:r>
            <a:r>
              <a:rPr lang="en-US" sz="2000" dirty="0"/>
              <a:t> → </a:t>
            </a:r>
            <a:r>
              <a:rPr lang="el-GR" sz="2000" dirty="0"/>
              <a:t>Διάσπαση σε </a:t>
            </a:r>
            <a:r>
              <a:rPr lang="el-GR" sz="2000" dirty="0" err="1"/>
              <a:t>υπο</a:t>
            </a:r>
            <a:r>
              <a:rPr lang="el-GR" sz="2000" dirty="0"/>
              <a:t>-λεκτικά </a:t>
            </a:r>
            <a:r>
              <a:rPr lang="en-US" sz="2000" dirty="0"/>
              <a:t>tokens.</a:t>
            </a:r>
          </a:p>
          <a:p>
            <a:pPr lvl="1"/>
            <a:r>
              <a:rPr lang="en-US" sz="2000" b="1" dirty="0"/>
              <a:t>Embedding Encoding</a:t>
            </a:r>
            <a:r>
              <a:rPr lang="en-US" sz="2000" dirty="0"/>
              <a:t> → </a:t>
            </a:r>
            <a:r>
              <a:rPr lang="el-GR" sz="2000" dirty="0"/>
              <a:t>Το μοντέλο παράγει ένα </a:t>
            </a:r>
            <a:r>
              <a:rPr lang="en-US" sz="2000" dirty="0"/>
              <a:t>dense vector (</a:t>
            </a:r>
            <a:r>
              <a:rPr lang="el-GR" sz="2000" dirty="0"/>
              <a:t>π.χ. 768 διαστάσεων) που αποτυπώνει το νόημα της πρότασης.</a:t>
            </a:r>
          </a:p>
          <a:p>
            <a:pPr lvl="1"/>
            <a:r>
              <a:rPr lang="el-GR" sz="2000" dirty="0"/>
              <a:t>Τα </a:t>
            </a:r>
            <a:r>
              <a:rPr lang="en-US" sz="2000" dirty="0"/>
              <a:t>embedding  </a:t>
            </a:r>
            <a:r>
              <a:rPr lang="el-GR" sz="2000" dirty="0"/>
              <a:t>του μοντέλου συνδυάζεται με τα </a:t>
            </a:r>
            <a:r>
              <a:rPr lang="en-US" sz="2000" dirty="0"/>
              <a:t>pattern </a:t>
            </a:r>
            <a:r>
              <a:rPr lang="el-GR" sz="2000" dirty="0"/>
              <a:t>αν χρησιμοποιούνται</a:t>
            </a:r>
            <a:r>
              <a:rPr lang="en-US" sz="2000" dirty="0"/>
              <a:t> </a:t>
            </a:r>
            <a:r>
              <a:rPr lang="el-GR" sz="2000" dirty="0"/>
              <a:t>για να τροφοδοτήσουν το </a:t>
            </a:r>
            <a:r>
              <a:rPr lang="en-US" sz="2000" dirty="0"/>
              <a:t>classification Layer</a:t>
            </a:r>
            <a:r>
              <a:rPr lang="el-GR" sz="2000" dirty="0"/>
              <a:t> 	</a:t>
            </a:r>
          </a:p>
          <a:p>
            <a:pPr lvl="1"/>
            <a:r>
              <a:rPr lang="en-US" sz="2000" b="1" dirty="0"/>
              <a:t>Classification Head</a:t>
            </a:r>
            <a:r>
              <a:rPr lang="en-US" sz="2000" dirty="0"/>
              <a:t> → </a:t>
            </a:r>
            <a:r>
              <a:rPr lang="el-GR" sz="2000" dirty="0"/>
              <a:t>Μικρό πλήρως συνδεδεμένο </a:t>
            </a:r>
            <a:r>
              <a:rPr lang="en-US" sz="2000" dirty="0"/>
              <a:t>layer </a:t>
            </a:r>
            <a:r>
              <a:rPr lang="el-GR" sz="2000" dirty="0"/>
              <a:t>αποφασίζει αν η πρόταση είναι:</a:t>
            </a:r>
          </a:p>
          <a:p>
            <a:pPr lvl="2"/>
            <a:r>
              <a:rPr lang="en-US" sz="2000" dirty="0"/>
              <a:t>VT (trigger),</a:t>
            </a:r>
          </a:p>
          <a:p>
            <a:pPr lvl="2"/>
            <a:r>
              <a:rPr lang="en-US" sz="2000" dirty="0"/>
              <a:t>CP (crash),</a:t>
            </a:r>
          </a:p>
          <a:p>
            <a:pPr lvl="2"/>
            <a:r>
              <a:rPr lang="en-US" sz="2000" dirty="0"/>
              <a:t>AF (fix action).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81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708D-590F-C648-1210-85F3EA52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95263"/>
            <a:ext cx="7886700" cy="1325563"/>
          </a:xfrm>
        </p:spPr>
        <p:txBody>
          <a:bodyPr/>
          <a:lstStyle/>
          <a:p>
            <a:pPr algn="ctr"/>
            <a:r>
              <a:rPr lang="en-US" dirty="0" err="1"/>
              <a:t>VulnTrace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F1C5D-389E-0CFF-BB5E-A0C3F2D0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9551"/>
            <a:ext cx="7886700" cy="3651250"/>
          </a:xfrm>
        </p:spPr>
        <p:txBody>
          <a:bodyPr>
            <a:normAutofit/>
          </a:bodyPr>
          <a:lstStyle/>
          <a:p>
            <a:r>
              <a:rPr lang="el-GR" sz="1800" dirty="0" err="1"/>
              <a:t>VulnTrace</a:t>
            </a:r>
            <a:r>
              <a:rPr lang="el-GR" sz="1800" dirty="0"/>
              <a:t> – Αντιστοίχιση Κειμένου με Κώδικα</a:t>
            </a:r>
          </a:p>
          <a:p>
            <a:pPr marL="0" indent="0">
              <a:buNone/>
            </a:pPr>
            <a:r>
              <a:rPr lang="el-GR" sz="1800" dirty="0"/>
              <a:t>• Χρησιμοποιεί μοντέλα βαθιάς μάθησης όπως </a:t>
            </a:r>
            <a:r>
              <a:rPr lang="el-GR" sz="1800" dirty="0" err="1"/>
              <a:t>CodeBERT</a:t>
            </a:r>
            <a:r>
              <a:rPr lang="el-GR" sz="1800" dirty="0"/>
              <a:t> και </a:t>
            </a:r>
            <a:r>
              <a:rPr lang="el-GR" sz="1800" dirty="0" err="1"/>
              <a:t>UniXcoder</a:t>
            </a:r>
            <a:r>
              <a:rPr lang="el-GR" sz="1800" dirty="0"/>
              <a:t>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Στόχος τους είναι να καταλαβαίνουν το νόημα μιας πρότασης και να βρίσκουν το σχετικό κομμάτι κώδικα.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Η εκπαίδευση έγινε σε ζεύγη (πρόταση – γραμμή κώδικα) που προέρχονται από CVE </a:t>
            </a:r>
            <a:r>
              <a:rPr lang="el-GR" sz="1800" dirty="0" err="1"/>
              <a:t>commits</a:t>
            </a:r>
            <a:r>
              <a:rPr lang="el-GR" sz="1800" dirty="0"/>
              <a:t>.</a:t>
            </a:r>
            <a:endParaRPr lang="en-US" sz="1800" dirty="0"/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Έτσι το μοντέλο μαθαίνει να “ταιριάζει” περιγραφές με τις σωστές γραμμές κώδικα.</a:t>
            </a:r>
          </a:p>
        </p:txBody>
      </p:sp>
    </p:spTree>
    <p:extLst>
      <p:ext uri="{BB962C8B-B14F-4D97-AF65-F5344CB8AC3E}">
        <p14:creationId xmlns:p14="http://schemas.microsoft.com/office/powerpoint/2010/main" val="14013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1136650"/>
            <a:ext cx="7670800" cy="877889"/>
          </a:xfrm>
        </p:spPr>
        <p:txBody>
          <a:bodyPr>
            <a:noAutofit/>
          </a:bodyPr>
          <a:lstStyle/>
          <a:p>
            <a:r>
              <a:rPr lang="en-US" sz="3600" dirty="0"/>
              <a:t>	</a:t>
            </a:r>
            <a: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Πώς γίνεται το ταίριασμα προτάσεων με κώδικα (</a:t>
            </a:r>
            <a:r>
              <a:rPr lang="el-GR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VulnTrace</a:t>
            </a:r>
            <a: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br>
              <a:rPr lang="el-GR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sz="3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428C5B-6C8B-0515-2035-9811372CC5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00" y="2234808"/>
            <a:ext cx="845998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sz="1800" dirty="0"/>
              <a:t> Το μοντέλο λαμβάνει την πρόταση μετά από </a:t>
            </a:r>
            <a:r>
              <a:rPr lang="el-GR" sz="1800" b="1" dirty="0" err="1"/>
              <a:t>tokenization</a:t>
            </a:r>
            <a:r>
              <a:rPr lang="el-GR" sz="1800" dirty="0"/>
              <a:t>.</a:t>
            </a:r>
            <a:br>
              <a:rPr lang="el-GR" sz="1800" dirty="0"/>
            </a:br>
            <a:r>
              <a:rPr lang="el-GR" sz="1800" dirty="0"/>
              <a:t>• Το μοντέλο λαμβάνει επίσης όλες τις γραμμές κώδικα , επίσης μετά από </a:t>
            </a:r>
            <a:r>
              <a:rPr lang="el-GR" sz="1800" b="1" dirty="0" err="1"/>
              <a:t>tokenization</a:t>
            </a:r>
            <a:r>
              <a:rPr lang="el-GR" sz="1800" dirty="0"/>
              <a:t>.</a:t>
            </a:r>
            <a:br>
              <a:rPr lang="el-GR" sz="1800" dirty="0"/>
            </a:br>
            <a:r>
              <a:rPr lang="el-GR" sz="1800" dirty="0"/>
              <a:t>• Για κάθε πρόταση και για κάθε γραμμή κώδικα δημιουργεί </a:t>
            </a:r>
            <a:r>
              <a:rPr lang="el-GR" sz="1800" b="1" dirty="0" err="1"/>
              <a:t>embeddings</a:t>
            </a:r>
            <a:r>
              <a:rPr lang="el-GR" sz="1800" dirty="0"/>
              <a:t> μέσω του </a:t>
            </a:r>
            <a:r>
              <a:rPr lang="el-GR" sz="1800" dirty="0" err="1"/>
              <a:t>προεκπαιδευμένου</a:t>
            </a:r>
            <a:r>
              <a:rPr lang="el-GR" sz="1800" dirty="0"/>
              <a:t> </a:t>
            </a:r>
            <a:r>
              <a:rPr lang="el-GR" sz="1800" dirty="0" err="1"/>
              <a:t>transformer</a:t>
            </a:r>
            <a:r>
              <a:rPr lang="el-GR" sz="1800" dirty="0"/>
              <a:t> (</a:t>
            </a:r>
            <a:r>
              <a:rPr lang="el-GR" sz="1800" dirty="0" err="1"/>
              <a:t>CodeBERT</a:t>
            </a:r>
            <a:r>
              <a:rPr lang="el-GR" sz="1800" dirty="0"/>
              <a:t>/</a:t>
            </a:r>
            <a:r>
              <a:rPr lang="el-GR" sz="1800" dirty="0" err="1"/>
              <a:t>UniXCoder</a:t>
            </a:r>
            <a:r>
              <a:rPr lang="el-GR" sz="1800" dirty="0"/>
              <a:t>).</a:t>
            </a:r>
            <a:br>
              <a:rPr lang="el-GR" sz="1800" dirty="0"/>
            </a:br>
            <a:r>
              <a:rPr lang="el-GR" sz="1800" dirty="0"/>
              <a:t>• Υπολογίζει πόσο “μοιάζει” η πρόταση με τον κώδικα χρησιμοποιώντας </a:t>
            </a:r>
            <a:r>
              <a:rPr lang="el-GR" sz="1800" b="1" dirty="0" err="1"/>
              <a:t>cosine</a:t>
            </a:r>
            <a:r>
              <a:rPr lang="el-GR" sz="1800" b="1" dirty="0"/>
              <a:t> </a:t>
            </a:r>
            <a:r>
              <a:rPr lang="el-GR" sz="1800" b="1" dirty="0" err="1"/>
              <a:t>similarity</a:t>
            </a:r>
            <a:r>
              <a:rPr lang="el-GR" sz="1800" dirty="0"/>
              <a:t>.</a:t>
            </a:r>
            <a:br>
              <a:rPr lang="el-GR" sz="1800" dirty="0"/>
            </a:br>
            <a:r>
              <a:rPr lang="el-GR" sz="1800" dirty="0"/>
              <a:t>• Κατά την εκπαίδευση προσπαθεί να φέρει </a:t>
            </a:r>
            <a:r>
              <a:rPr lang="el-GR" sz="1800" b="1" dirty="0"/>
              <a:t>κοντά</a:t>
            </a:r>
            <a:r>
              <a:rPr lang="el-GR" sz="1800" dirty="0"/>
              <a:t> την αναπαράσταση της πρότασης με την αναπαράσταση της </a:t>
            </a:r>
            <a:r>
              <a:rPr lang="el-GR" sz="1800" b="1" dirty="0"/>
              <a:t>σωστής</a:t>
            </a:r>
            <a:r>
              <a:rPr lang="el-GR" sz="1800" dirty="0"/>
              <a:t> γραμμής κώδικα και να </a:t>
            </a:r>
            <a:r>
              <a:rPr lang="el-GR" sz="1800" b="1" dirty="0"/>
              <a:t>απομακρύνει</a:t>
            </a:r>
            <a:r>
              <a:rPr lang="el-GR" sz="1800" dirty="0"/>
              <a:t> τις αναπαραστάσεις των λανθασμένων.</a:t>
            </a:r>
            <a:br>
              <a:rPr lang="el-GR" sz="1800" dirty="0"/>
            </a:br>
            <a:r>
              <a:rPr lang="el-GR" sz="1800" dirty="0"/>
              <a:t>• Στην πρόβλεψη, επιστρέφει τις </a:t>
            </a:r>
            <a:r>
              <a:rPr lang="el-GR" sz="1800" b="1" dirty="0"/>
              <a:t>Top-K πιο σχετικές</a:t>
            </a:r>
            <a:r>
              <a:rPr lang="el-GR" sz="1800" dirty="0"/>
              <a:t> γραμμές κώδικα.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Στο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paper 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χρησιμοποιήθηκε</a:t>
            </a:r>
            <a:r>
              <a:rPr lang="el-GR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top-5  </a:t>
            </a:r>
            <a:r>
              <a:rPr lang="el-GR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μπορεί να μην είναι απολυτό αλλά μειώνει πολύ το σύνολο των </a:t>
            </a:r>
            <a:r>
              <a:rPr lang="en-US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codes </a:t>
            </a:r>
            <a:r>
              <a:rPr lang="el-GR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που πρέπει να δει ο </a:t>
            </a:r>
            <a:r>
              <a:rPr lang="en-US" alt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developer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VulnExtract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l-GR" sz="1800" b="1" dirty="0"/>
              <a:t>SVM (</a:t>
            </a:r>
            <a:r>
              <a:rPr lang="el-GR" sz="1800" b="1" dirty="0" err="1"/>
              <a:t>Patterns</a:t>
            </a:r>
            <a:r>
              <a:rPr lang="el-GR" sz="1800" b="1" dirty="0"/>
              <a:t>)</a:t>
            </a:r>
          </a:p>
          <a:p>
            <a:pPr lvl="1"/>
            <a:r>
              <a:rPr lang="el-GR" sz="1500" b="1" dirty="0"/>
              <a:t>AF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n-US" sz="1500" b="1" dirty="0"/>
              <a:t> </a:t>
            </a:r>
            <a:r>
              <a:rPr lang="el-GR" sz="1500" dirty="0"/>
              <a:t>92.80%</a:t>
            </a:r>
            <a:r>
              <a:rPr lang="en-US" sz="1500" dirty="0"/>
              <a:t> </a:t>
            </a:r>
            <a:endParaRPr lang="el-GR" sz="1500" dirty="0"/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47.37%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95.60%</a:t>
            </a:r>
          </a:p>
          <a:p>
            <a:r>
              <a:rPr lang="el-GR" sz="1800" b="1" dirty="0"/>
              <a:t>SVM (</a:t>
            </a:r>
            <a:r>
              <a:rPr lang="en-US" sz="1800" b="1" dirty="0"/>
              <a:t>text</a:t>
            </a:r>
            <a:r>
              <a:rPr lang="el-GR" sz="1800" b="1" dirty="0"/>
              <a:t>)</a:t>
            </a:r>
          </a:p>
          <a:p>
            <a:pPr lvl="1"/>
            <a:r>
              <a:rPr lang="el-GR" sz="1500" b="1" dirty="0"/>
              <a:t>AF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66.73%</a:t>
            </a:r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0%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74.65%</a:t>
            </a:r>
            <a:endParaRPr lang="en-US" sz="1500" dirty="0"/>
          </a:p>
          <a:p>
            <a:r>
              <a:rPr lang="el-GR" sz="1800" b="1" dirty="0"/>
              <a:t>SVM (</a:t>
            </a:r>
            <a:r>
              <a:rPr lang="en-US" sz="1800" b="1" dirty="0"/>
              <a:t>text + patterns</a:t>
            </a:r>
            <a:r>
              <a:rPr lang="el-GR" sz="1800" b="1" dirty="0"/>
              <a:t>)</a:t>
            </a:r>
          </a:p>
          <a:p>
            <a:pPr lvl="1"/>
            <a:r>
              <a:rPr lang="en-US" sz="1500" b="1" dirty="0"/>
              <a:t>AF :</a:t>
            </a:r>
            <a:r>
              <a:rPr lang="en-US" sz="1500" dirty="0"/>
              <a:t> 92.16 %</a:t>
            </a:r>
          </a:p>
          <a:p>
            <a:pPr lvl="1"/>
            <a:r>
              <a:rPr lang="el-GR" sz="1500" b="1" dirty="0"/>
              <a:t>VT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47.</a:t>
            </a:r>
            <a:r>
              <a:rPr lang="en-US" sz="1500" dirty="0"/>
              <a:t>08</a:t>
            </a:r>
            <a:r>
              <a:rPr lang="el-GR" sz="1500" dirty="0"/>
              <a:t>%</a:t>
            </a:r>
          </a:p>
          <a:p>
            <a:pPr lvl="1"/>
            <a:r>
              <a:rPr lang="el-GR" sz="1500" b="1" dirty="0"/>
              <a:t>CP</a:t>
            </a:r>
            <a:r>
              <a:rPr lang="en-US" sz="1500" b="1" dirty="0"/>
              <a:t> </a:t>
            </a:r>
            <a:r>
              <a:rPr lang="el-GR" sz="1500" b="1" dirty="0"/>
              <a:t>:</a:t>
            </a:r>
            <a:r>
              <a:rPr lang="el-GR" sz="1500" dirty="0"/>
              <a:t> 9</a:t>
            </a:r>
            <a:r>
              <a:rPr lang="en-US" sz="1500" dirty="0"/>
              <a:t>3</a:t>
            </a:r>
            <a:r>
              <a:rPr lang="el-GR" sz="1500" dirty="0"/>
              <a:t>.</a:t>
            </a:r>
            <a:r>
              <a:rPr lang="en-US" sz="1500" dirty="0"/>
              <a:t>42</a:t>
            </a:r>
            <a:r>
              <a:rPr lang="el-GR" sz="1500" dirty="0"/>
              <a:t>%</a:t>
            </a:r>
            <a:endParaRPr lang="en-US" sz="1500" b="1" dirty="0"/>
          </a:p>
          <a:p>
            <a:pPr marL="342900" lvl="1" indent="0">
              <a:buNone/>
            </a:pPr>
            <a:endParaRPr lang="el-GR" sz="1500" dirty="0"/>
          </a:p>
          <a:p>
            <a:r>
              <a:rPr lang="el-GR" sz="1800" dirty="0"/>
              <a:t>Η χρήση </a:t>
            </a:r>
            <a:r>
              <a:rPr lang="el-GR" sz="1800" dirty="0" err="1"/>
              <a:t>patterns</a:t>
            </a:r>
            <a:r>
              <a:rPr lang="el-GR" sz="1800" dirty="0"/>
              <a:t> έχει </a:t>
            </a:r>
            <a:r>
              <a:rPr lang="el-GR" sz="1800" b="1" dirty="0"/>
              <a:t>δραματική επίδραση</a:t>
            </a:r>
            <a:r>
              <a:rPr lang="el-GR" sz="1800" dirty="0"/>
              <a:t> ειδικά σε AF και CP.</a:t>
            </a:r>
          </a:p>
          <a:p>
            <a:r>
              <a:rPr lang="el-GR" sz="1800" dirty="0"/>
              <a:t>Στο VT βοηθάει, αλλά το πρόβλημα παραμένει δύσκολο (47% F1</a:t>
            </a:r>
            <a:r>
              <a:rPr lang="en-US" sz="1800" dirty="0"/>
              <a:t> score</a:t>
            </a:r>
            <a:r>
              <a:rPr lang="el-GR" sz="1800" dirty="0"/>
              <a:t>).</a:t>
            </a:r>
          </a:p>
          <a:p>
            <a:r>
              <a:rPr lang="el-GR" sz="1800" dirty="0"/>
              <a:t>Ο SVM γίνεται εξαιρετικά δυνατό </a:t>
            </a:r>
            <a:r>
              <a:rPr lang="el-GR" sz="1800" dirty="0" err="1"/>
              <a:t>baseline</a:t>
            </a:r>
            <a:r>
              <a:rPr lang="en-US" sz="1800" dirty="0"/>
              <a:t> model</a:t>
            </a:r>
            <a:r>
              <a:rPr lang="el-GR" sz="1800" dirty="0"/>
              <a:t> </a:t>
            </a:r>
            <a:r>
              <a:rPr lang="el-GR" sz="1800" b="1" dirty="0"/>
              <a:t>μόνο</a:t>
            </a:r>
            <a:r>
              <a:rPr lang="el-GR" sz="1800" dirty="0"/>
              <a:t> όταν του δώσεις </a:t>
            </a:r>
            <a:r>
              <a:rPr lang="el-GR" sz="1800" dirty="0" err="1"/>
              <a:t>patterns</a:t>
            </a:r>
            <a:r>
              <a:rPr lang="el-GR" sz="18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51DC-B31A-19FD-EFB8-E7A78364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9D21-CFF3-4058-028D-AF84E6E5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VulnTrace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99EFCF-68B0-CBEE-8E6A-623D7A0200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549" y="1849319"/>
            <a:ext cx="831572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VulnTrace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ξιολογεί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όσο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κα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λά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β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ρίσκει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μοντέλο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σωστή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αμμή κώδικα για κάθε πρόταση VT, AF ή CP.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Ο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UniXcoder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ήτ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 ο καλύτερος σε όλες τις μετρήσεις:</a:t>
            </a:r>
          </a:p>
          <a:p>
            <a:pPr marL="3429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VT_Code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72.57%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AF_Code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77.62%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CP_Code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(Top-5): 81.72%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Η απ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όδοση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είν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αι υψηλότερη για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και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επειδή περιγράφουν καθαρές ενέργειες και αποτελέσματα.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είν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αι σημαντικά πιο δύσκολο, με χαμηλότερα ποσοστ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ά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Στους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συνδυ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ασμούς τύπων:</a:t>
            </a:r>
          </a:p>
          <a:p>
            <a:pPr marL="3429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VT/CP (Top-5): 68.20%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AF/CP (Top-5): 68.33%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Συνολικά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VulnTrace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φτάνει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ερί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~68% Top-5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στα πιο απαιτητικά σενάρια και πάνω από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στα πιο "εύκολα" (CP).</a:t>
            </a:r>
          </a:p>
        </p:txBody>
      </p:sp>
    </p:spTree>
    <p:extLst>
      <p:ext uri="{BB962C8B-B14F-4D97-AF65-F5344CB8AC3E}">
        <p14:creationId xmlns:p14="http://schemas.microsoft.com/office/powerpoint/2010/main" val="239427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B860-1E60-4CEA-9D1D-2D049ED9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3656-A6A6-C9A6-FB8B-E4B9E91C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" y="257176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A</a:t>
            </a:r>
            <a:r>
              <a:rPr lang="el-GR" dirty="0" err="1"/>
              <a:t>ποτελέσματα</a:t>
            </a:r>
            <a:r>
              <a:rPr lang="en-US" dirty="0"/>
              <a:t> </a:t>
            </a:r>
            <a:r>
              <a:rPr lang="en-US" dirty="0" err="1"/>
              <a:t>VulnExtract</a:t>
            </a:r>
            <a:r>
              <a:rPr lang="en-US" dirty="0"/>
              <a:t>+ </a:t>
            </a:r>
            <a:r>
              <a:rPr lang="en-US" dirty="0" err="1"/>
              <a:t>VulnTrace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297BFE-09C9-1CC9-345E-B2A61E5DA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549" y="1430486"/>
            <a:ext cx="8315727" cy="4900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l-GR" dirty="0"/>
              <a:t>Όταν τα δύο συστήματα συνδυάζονται, η ακρίβεια μειώνεται σε σχέση με το </a:t>
            </a:r>
            <a:r>
              <a:rPr lang="el-GR" dirty="0" err="1"/>
              <a:t>VulnTrace</a:t>
            </a:r>
            <a:r>
              <a:rPr lang="el-GR" dirty="0"/>
              <a:t> μόνο, λόγω σφαλμάτων στην αρχική ταξινόμηση των προτάσεων (AF/VT/CP).</a:t>
            </a:r>
          </a:p>
          <a:p>
            <a:r>
              <a:rPr lang="el-GR" dirty="0"/>
              <a:t>Το καλύτερο μοντέλο ήταν ο </a:t>
            </a:r>
            <a:r>
              <a:rPr lang="el-GR" b="1" dirty="0" err="1"/>
              <a:t>UniXcoder</a:t>
            </a:r>
            <a:r>
              <a:rPr lang="el-GR" dirty="0"/>
              <a:t>, με:</a:t>
            </a:r>
          </a:p>
          <a:p>
            <a:pPr lvl="1"/>
            <a:r>
              <a:rPr lang="el-GR" b="1" dirty="0" err="1"/>
              <a:t>VT_Code</a:t>
            </a:r>
            <a:r>
              <a:rPr lang="el-GR" b="1" dirty="0"/>
              <a:t> Top-5:</a:t>
            </a:r>
            <a:r>
              <a:rPr lang="el-GR" dirty="0"/>
              <a:t> 64.0%</a:t>
            </a:r>
          </a:p>
          <a:p>
            <a:pPr lvl="1"/>
            <a:r>
              <a:rPr lang="el-GR" b="1" dirty="0" err="1"/>
              <a:t>AF_Code</a:t>
            </a:r>
            <a:r>
              <a:rPr lang="el-GR" b="1" dirty="0"/>
              <a:t> Top-5:</a:t>
            </a:r>
            <a:r>
              <a:rPr lang="el-GR" dirty="0"/>
              <a:t> 66.74%</a:t>
            </a:r>
          </a:p>
          <a:p>
            <a:pPr lvl="1"/>
            <a:r>
              <a:rPr lang="el-GR" b="1" dirty="0" err="1"/>
              <a:t>CP_Code</a:t>
            </a:r>
            <a:r>
              <a:rPr lang="el-GR" b="1" dirty="0"/>
              <a:t> Top-5:</a:t>
            </a:r>
            <a:r>
              <a:rPr lang="el-GR" dirty="0"/>
              <a:t> 72.03%</a:t>
            </a:r>
          </a:p>
          <a:p>
            <a:r>
              <a:rPr lang="el-GR" dirty="0"/>
              <a:t>Στους συνδυασμούς τύπων προτάσεων:</a:t>
            </a:r>
          </a:p>
          <a:p>
            <a:pPr lvl="1"/>
            <a:r>
              <a:rPr lang="el-GR" b="1" dirty="0"/>
              <a:t>VT/CP Top-5:</a:t>
            </a:r>
            <a:r>
              <a:rPr lang="el-GR" dirty="0"/>
              <a:t> 59.60%</a:t>
            </a:r>
          </a:p>
          <a:p>
            <a:pPr lvl="1"/>
            <a:r>
              <a:rPr lang="el-GR" b="1" dirty="0"/>
              <a:t>AF/CP Top-5:</a:t>
            </a:r>
            <a:r>
              <a:rPr lang="el-GR" dirty="0"/>
              <a:t> 53.10%</a:t>
            </a:r>
          </a:p>
          <a:p>
            <a:r>
              <a:rPr lang="el-GR" dirty="0"/>
              <a:t>Τα αποτελέσματα δείχνουν ότι το συνολικό </a:t>
            </a:r>
            <a:r>
              <a:rPr lang="el-GR" dirty="0" err="1"/>
              <a:t>End-to-End</a:t>
            </a:r>
            <a:r>
              <a:rPr lang="el-GR" dirty="0"/>
              <a:t> </a:t>
            </a:r>
            <a:r>
              <a:rPr lang="el-GR" dirty="0" err="1"/>
              <a:t>pipeline</a:t>
            </a:r>
            <a:r>
              <a:rPr lang="el-GR" dirty="0"/>
              <a:t> επιτυγχάνει </a:t>
            </a:r>
            <a:r>
              <a:rPr lang="el-GR" b="1" dirty="0"/>
              <a:t>55–60% ακρίβεια</a:t>
            </a:r>
            <a:r>
              <a:rPr lang="el-GR" dirty="0"/>
              <a:t>, ενώ για CP φτάνει πάνω από 70%.</a:t>
            </a:r>
          </a:p>
          <a:p>
            <a:r>
              <a:rPr lang="el-GR" dirty="0"/>
              <a:t>Η απόδοση εξαρτάται κυρίως από την ποιότητα του </a:t>
            </a:r>
            <a:r>
              <a:rPr lang="el-GR" dirty="0" err="1"/>
              <a:t>VulnExtract</a:t>
            </a:r>
            <a:r>
              <a:rPr lang="el-GR" dirty="0"/>
              <a:t> και τη δυσκολία της κατηγορίας (VT πιο δύσκολο, CP ευκολότερο).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121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359A-EFB9-2CA9-D227-A7C2E6DC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/>
              <a:t>Αποτελέσματα με Χρήστες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D45B-D571-DDE0-8C85-22682D60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μελέτη συνέκρινε δύο ομάδες: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χωρίς το εργαλείο και </a:t>
            </a:r>
            <a:r>
              <a:rPr lang="el-G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με τη βοήθειά του.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Χρόνος ανάλυσης ανά CVE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7.09 λεπτά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3.44 λεπτά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50% ταχύτερη ανάλυση με το εργαλείο.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Βαθμολογία κατανόησης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3.46</a:t>
            </a:r>
            <a:endParaRPr lang="el-G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l-G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B: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3.88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Καλύτερη ακρίβεια κατανόησης της ευπάθειας.</a:t>
            </a:r>
          </a:p>
          <a:p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Συμπέρασμα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b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σύστημα βοηθά τους χρήστες να εντοπίζουν </a:t>
            </a:r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το σχετικό κείμενο και τον αντίστοιχο κώδικα</a:t>
            </a:r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πιο γρήγορα και με μεγαλύτερη σαφήνεια, μειώνοντας χειρωνακτικό χρόνο και βελτιώνοντας την κατανόηση των ευπαθειών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29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EF9A-C653-57D7-3962-20A04D75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Γιατί έχει σημασία για τη βιομηχανία;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024745-AEE6-9B06-97F7-19CD9F076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3262630"/>
            <a:ext cx="70866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manual vulnerability triaging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κοστίζει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εκ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ατομμύρια.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Οι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οργ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ανισμοί έχουν τεράστια backlog από CVEs.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Έν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ας security analyst δεν μπορεί να διαβάζει 200 CVEs/ημέρα.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Το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40%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του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χρόνου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 debugging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είν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αι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εντοπισμός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, όχι διόρθωση.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Τα automated repair tools (APR)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χρειάζοντ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</a:rPr>
              <a:t>αι κατανόηση root cause</a:t>
            </a:r>
          </a:p>
        </p:txBody>
      </p:sp>
    </p:spTree>
    <p:extLst>
      <p:ext uri="{BB962C8B-B14F-4D97-AF65-F5344CB8AC3E}">
        <p14:creationId xmlns:p14="http://schemas.microsoft.com/office/powerpoint/2010/main" val="1089180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E430-4601-B119-C692-AC4FA84A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19EE-05A3-BAB8-5235-EE6771A0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71" y="-15888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l-G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Περιορισμοί &amp; Προκλήσεις</a:t>
            </a:r>
            <a:r>
              <a:rPr lang="el-GR" sz="3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55BA74-6FD5-C116-F3AE-487FFE681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594" y="1839520"/>
            <a:ext cx="802481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sz="1800" dirty="0"/>
              <a:t> Εξάρτηση από ποιότητα </a:t>
            </a:r>
            <a:r>
              <a:rPr lang="el-GR" sz="1800" dirty="0" err="1"/>
              <a:t>CVEs</a:t>
            </a:r>
            <a:r>
              <a:rPr lang="el-GR" sz="1800" dirty="0"/>
              <a:t>/</a:t>
            </a:r>
            <a:r>
              <a:rPr lang="el-GR" sz="1800" dirty="0" err="1"/>
              <a:t>commit</a:t>
            </a:r>
            <a:r>
              <a:rPr lang="el-GR" sz="1800" dirty="0"/>
              <a:t> </a:t>
            </a:r>
            <a:r>
              <a:rPr lang="el-GR" sz="1800" dirty="0" err="1"/>
              <a:t>messages</a:t>
            </a:r>
            <a:endParaRPr lang="el-GR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Αδύναμη 1-προς-1 αντιστοίχιση προτάσεων–κώδικα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Χαμηλή ακρίβεια στο VT (το πιο δύσκολο </a:t>
            </a:r>
            <a:r>
              <a:rPr lang="el-GR" sz="1800" dirty="0" err="1"/>
              <a:t>category</a:t>
            </a:r>
            <a:r>
              <a:rPr lang="el-GR" sz="1800" dirty="0"/>
              <a:t>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Λάθη στο </a:t>
            </a:r>
            <a:r>
              <a:rPr lang="el-GR" sz="1800" dirty="0" err="1"/>
              <a:t>VulnExtract</a:t>
            </a:r>
            <a:r>
              <a:rPr lang="el-GR" sz="1800" dirty="0"/>
              <a:t> μειώνουν το </a:t>
            </a:r>
            <a:r>
              <a:rPr lang="el-GR" sz="1800" dirty="0" err="1"/>
              <a:t>End-to-End</a:t>
            </a:r>
            <a:r>
              <a:rPr lang="el-GR" sz="1800" dirty="0"/>
              <a:t> </a:t>
            </a:r>
            <a:r>
              <a:rPr lang="el-GR" sz="1800" dirty="0" err="1"/>
              <a:t>accuracy</a:t>
            </a:r>
            <a:endParaRPr lang="el-GR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l-GR" sz="1800" dirty="0"/>
            </a:br>
            <a:r>
              <a:rPr lang="el-GR" sz="1800" dirty="0"/>
              <a:t>• Περιορισμένη γενίκευση σε νέα περιβάλλοντα</a:t>
            </a:r>
            <a:endParaRPr lang="en-US" sz="18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584324"/>
          </a:xfrm>
        </p:spPr>
        <p:txBody>
          <a:bodyPr/>
          <a:lstStyle/>
          <a:p>
            <a:pPr algn="ctr"/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Μελλοντικές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Κα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τευθύνσεις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76475"/>
            <a:ext cx="7886700" cy="2759075"/>
          </a:xfrm>
        </p:spPr>
        <p:txBody>
          <a:bodyPr>
            <a:normAutofit fontScale="85000" lnSpcReduction="20000"/>
          </a:bodyPr>
          <a:lstStyle/>
          <a:p>
            <a:r>
              <a:rPr lang="el-GR" dirty="0"/>
              <a:t> Χρήση στην πράξη</a:t>
            </a:r>
            <a:br>
              <a:rPr lang="el-GR" dirty="0"/>
            </a:br>
            <a:r>
              <a:rPr lang="el-GR" dirty="0"/>
              <a:t>–  Τα εργαλεία αυτά μπορούν να μπουν σε </a:t>
            </a:r>
            <a:r>
              <a:rPr lang="el-GR" dirty="0" err="1"/>
              <a:t>IDEs</a:t>
            </a:r>
            <a:r>
              <a:rPr lang="el-GR" dirty="0"/>
              <a:t> ή σε </a:t>
            </a:r>
            <a:r>
              <a:rPr lang="el-GR" dirty="0" err="1"/>
              <a:t>GitHub</a:t>
            </a:r>
            <a:r>
              <a:rPr lang="el-GR" dirty="0"/>
              <a:t> και να βοηθούν προγραμματιστές την ώρα που δουλεύουν.</a:t>
            </a:r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Καλύτερα δεδομένα</a:t>
            </a:r>
            <a:br>
              <a:rPr lang="el-GR" dirty="0"/>
            </a:br>
            <a:r>
              <a:rPr lang="el-GR" dirty="0"/>
              <a:t>–  Περισσότερα και πιο καθαρά </a:t>
            </a:r>
            <a:r>
              <a:rPr lang="el-GR" dirty="0" err="1"/>
              <a:t>CVEs</a:t>
            </a:r>
            <a:r>
              <a:rPr lang="el-GR" dirty="0"/>
              <a:t>, πιο ξεκάθαρα </a:t>
            </a:r>
            <a:r>
              <a:rPr lang="el-GR" dirty="0" err="1"/>
              <a:t>commit</a:t>
            </a:r>
            <a:r>
              <a:rPr lang="el-GR" dirty="0"/>
              <a:t> </a:t>
            </a:r>
            <a:r>
              <a:rPr lang="el-GR" dirty="0" err="1"/>
              <a:t>messages</a:t>
            </a:r>
            <a:r>
              <a:rPr lang="el-GR" dirty="0"/>
              <a:t>, περισσότερα </a:t>
            </a:r>
            <a:r>
              <a:rPr lang="el-GR" dirty="0" err="1"/>
              <a:t>projects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 Καλύτερα μοντέλα</a:t>
            </a:r>
            <a:br>
              <a:rPr lang="el-GR" dirty="0"/>
            </a:br>
            <a:r>
              <a:rPr lang="el-GR" dirty="0"/>
              <a:t>–  Εκπαίδευση των μοντέλων σε συγκεκριμένα </a:t>
            </a:r>
            <a:r>
              <a:rPr lang="el-GR" dirty="0" err="1"/>
              <a:t>projects</a:t>
            </a:r>
            <a:r>
              <a:rPr lang="el-GR" dirty="0"/>
              <a:t> ώστε να “μαθαίνουν” το στιλ και τον κώδικα κάθε ομάδας.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Συμ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πέρασμα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4B8410-849B-5B9D-D68C-46BD3C4A0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16925"/>
            <a:ext cx="7480300" cy="314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l-GR" sz="1800" dirty="0"/>
              <a:t>Η έρευνα δείχνει ότι η AI μπορεί πλέον να “διαβάσει” ευπάθειες όπως ένας έμπειρος προγραμματιστής.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Ο συνδυασμός </a:t>
            </a:r>
            <a:r>
              <a:rPr lang="el-GR" sz="1800" dirty="0" err="1"/>
              <a:t>VulnExtract</a:t>
            </a:r>
            <a:r>
              <a:rPr lang="el-GR" sz="1800" dirty="0"/>
              <a:t> + </a:t>
            </a:r>
            <a:r>
              <a:rPr lang="el-GR" sz="1800" dirty="0" err="1"/>
              <a:t>VulnTrace</a:t>
            </a:r>
            <a:r>
              <a:rPr lang="el-GR" sz="1800" dirty="0"/>
              <a:t> είναι το πρώτο βήμα προς ένα </a:t>
            </a:r>
            <a:r>
              <a:rPr lang="el-GR" sz="1800" dirty="0" err="1"/>
              <a:t>end-to-end</a:t>
            </a:r>
            <a:r>
              <a:rPr lang="el-GR" sz="1800" dirty="0"/>
              <a:t> μοντέλο κατανόησης ευπαθειών.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dirty="0"/>
              <a:t>• Δεν είναι ακόμη έτοιμο για παραγωγή, αλλά τα αποτελέσματα δείχνουν ξεκάθαρα την κατεύθυνση για το μέλλον.</a:t>
            </a:r>
          </a:p>
          <a:p>
            <a:pPr marL="0" indent="0">
              <a:buNone/>
            </a:pPr>
            <a:br>
              <a:rPr lang="el-GR" sz="1800" dirty="0"/>
            </a:br>
            <a:r>
              <a:rPr lang="el-GR" sz="1800" b="1" dirty="0"/>
              <a:t>• </a:t>
            </a:r>
            <a:r>
              <a:rPr lang="el-GR" sz="1800" dirty="0"/>
              <a:t>Το πιο σημαντικό: αποδεικνύει ότι η AI δεν βοηθά μόνο στο </a:t>
            </a:r>
            <a:r>
              <a:rPr lang="el-GR" sz="1800" i="1" dirty="0" err="1"/>
              <a:t>fixing</a:t>
            </a:r>
            <a:r>
              <a:rPr lang="el-GR" sz="1800" dirty="0"/>
              <a:t>, αλλά και στο </a:t>
            </a:r>
            <a:r>
              <a:rPr lang="el-GR" sz="1800" i="1" dirty="0" err="1"/>
              <a:t>thinking</a:t>
            </a:r>
            <a:r>
              <a:rPr lang="el-GR" sz="1800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8559-6B95-FCD0-FB92-F4B1AC0B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54F5-FAE3-A87D-7DC4-57C05E94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471449"/>
            <a:ext cx="7886700" cy="1325563"/>
          </a:xfrm>
        </p:spPr>
        <p:txBody>
          <a:bodyPr/>
          <a:lstStyle/>
          <a:p>
            <a:pPr algn="ctr"/>
            <a:r>
              <a:rPr lang="el-G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Ευχαριστώ για την προσοχή σας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C84714A-8F6B-4422-4E5F-12BFE31ED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1450" y="2730284"/>
            <a:ext cx="7480300" cy="34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385050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586</TotalTime>
  <Words>1863</Words>
  <Application>Microsoft Office PowerPoint</Application>
  <PresentationFormat>On-screen Show (4:3)</PresentationFormat>
  <Paragraphs>154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Διδάσκοντας στην Τεχνητή Νοημοσύνη το «Γιατί» και το «Πώς» των Διορθώσεων Ευπαθειών Λογισμικού(Bug Fix </vt:lpstr>
      <vt:lpstr>Software engineering &amp; AI</vt:lpstr>
      <vt:lpstr>Τι είναι μια ευπάθεια</vt:lpstr>
      <vt:lpstr>Ποια είναι η δυσκολία </vt:lpstr>
      <vt:lpstr>Παράδειγμα CVE + Code</vt:lpstr>
      <vt:lpstr>Ο Στόχος της έρευνας </vt:lpstr>
      <vt:lpstr>Γραφική αναπαράσταση μοντέλου.</vt:lpstr>
      <vt:lpstr>Δεδομένα </vt:lpstr>
      <vt:lpstr>VulnExtract </vt:lpstr>
      <vt:lpstr>Τροφοδότη Δεδομένων στον SVM</vt:lpstr>
      <vt:lpstr>Τροφοδότηση Δεδομένων στα μοντέλα φυσικής γλώσσας. </vt:lpstr>
      <vt:lpstr>VulnTrace</vt:lpstr>
      <vt:lpstr> Πώς γίνεται το ταίριασμα προτάσεων με κώδικα (VulnTrace) </vt:lpstr>
      <vt:lpstr>Aποτελέσματα VulnExtract</vt:lpstr>
      <vt:lpstr>Aποτελέσματα VulnTrace</vt:lpstr>
      <vt:lpstr>Aποτελέσματα VulnExtract+ VulnTrace</vt:lpstr>
      <vt:lpstr>Αποτελέσματα με Χρήστες</vt:lpstr>
      <vt:lpstr>Γιατί έχει σημασία για τη βιομηχανία;</vt:lpstr>
      <vt:lpstr>Περιορισμοί &amp; Προκλήσεις </vt:lpstr>
      <vt:lpstr>Μελλοντικές Κατευθύνσεις</vt:lpstr>
      <vt:lpstr>Συμπέρασμα</vt:lpstr>
      <vt:lpstr>Ευχαριστώ για την προσοχή σας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Vasileios Kyriakopoulos</cp:lastModifiedBy>
  <cp:revision>20</cp:revision>
  <dcterms:created xsi:type="dcterms:W3CDTF">2013-01-27T09:14:16Z</dcterms:created>
  <dcterms:modified xsi:type="dcterms:W3CDTF">2025-11-24T21:34:00Z</dcterms:modified>
  <cp:category/>
</cp:coreProperties>
</file>